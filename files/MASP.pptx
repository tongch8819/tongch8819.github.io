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5" r:id="rId4"/>
    <p:sldId id="267" r:id="rId5"/>
    <p:sldId id="270" r:id="rId6"/>
    <p:sldId id="261" r:id="rId7"/>
    <p:sldId id="262" r:id="rId8"/>
    <p:sldId id="271" r:id="rId9"/>
    <p:sldId id="263" r:id="rId10"/>
    <p:sldId id="269" r:id="rId11"/>
    <p:sldId id="264" r:id="rId12"/>
    <p:sldId id="266" r:id="rId13"/>
    <p:sldId id="258" r:id="rId14"/>
    <p:sldId id="272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4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3" autoAdjust="0"/>
    <p:restoredTop sz="75797" autoAdjust="0"/>
  </p:normalViewPr>
  <p:slideViewPr>
    <p:cSldViewPr snapToGrid="0">
      <p:cViewPr varScale="1">
        <p:scale>
          <a:sx n="102" d="100"/>
          <a:sy n="102" d="100"/>
        </p:scale>
        <p:origin x="75" y="396"/>
      </p:cViewPr>
      <p:guideLst>
        <p:guide orient="horz" pos="1968"/>
        <p:guide pos="441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24AB62-478D-45ED-9652-4FC4C9F0875C}" type="datetimeFigureOut">
              <a:rPr lang="zh-CN" altLang="en-US" smtClean="0"/>
              <a:t>2023/6/8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1E4673-5BFB-4874-8DF0-EBDBB7594B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8521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WWW 23 industry track</a:t>
            </a:r>
          </a:p>
          <a:p>
            <a:r>
              <a:rPr lang="en-US" altLang="zh-CN" dirty="0"/>
              <a:t>title has two </a:t>
            </a:r>
            <a:r>
              <a:rPr lang="en-US" altLang="zh-CN" dirty="0" err="1"/>
              <a:t>implicaitons</a:t>
            </a:r>
            <a:endParaRPr lang="en-US" altLang="zh-CN" dirty="0"/>
          </a:p>
          <a:p>
            <a:pPr marL="171450" indent="-171450">
              <a:buFontTx/>
              <a:buChar char="-"/>
            </a:pPr>
            <a:r>
              <a:rPr lang="en-US" altLang="zh-CN" dirty="0"/>
              <a:t>background or problem</a:t>
            </a:r>
          </a:p>
          <a:p>
            <a:pPr marL="171450" indent="-171450">
              <a:buFontTx/>
              <a:buChar char="-"/>
            </a:pPr>
            <a:r>
              <a:rPr lang="en-US" altLang="zh-CN" dirty="0"/>
              <a:t>method</a:t>
            </a:r>
          </a:p>
          <a:p>
            <a:pPr marL="171450" indent="-171450">
              <a:buFontTx/>
              <a:buChar char="-"/>
            </a:pPr>
            <a:endParaRPr lang="en-US" altLang="zh-CN" dirty="0"/>
          </a:p>
          <a:p>
            <a:pPr marL="0" indent="0">
              <a:buFontTx/>
              <a:buNone/>
            </a:pPr>
            <a:r>
              <a:rPr lang="en-US" altLang="zh-CN" dirty="0"/>
              <a:t>novelty</a:t>
            </a:r>
          </a:p>
          <a:p>
            <a:pPr marL="171450" indent="-171450">
              <a:buFontTx/>
              <a:buChar char="-"/>
            </a:pPr>
            <a:r>
              <a:rPr lang="en-US" altLang="zh-CN" dirty="0"/>
              <a:t>multi-agent reformulation</a:t>
            </a:r>
          </a:p>
          <a:p>
            <a:pPr marL="171450" indent="-171450">
              <a:buFontTx/>
              <a:buChar char="-"/>
            </a:pPr>
            <a:r>
              <a:rPr lang="en-US" altLang="zh-CN" dirty="0"/>
              <a:t>shared policy technique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1E4673-5BFB-4874-8DF0-EBDBB7594B5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542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we aim to build QMS</a:t>
            </a:r>
          </a:p>
          <a:p>
            <a:endParaRPr lang="en-US" altLang="zh-CN"/>
          </a:p>
          <a:p>
            <a:r>
              <a:rPr lang="en-US" altLang="zh-CN"/>
              <a:t>expansion requests means that user could adjust their quota by negotiating with system</a:t>
            </a:r>
          </a:p>
          <a:p>
            <a:endParaRPr lang="en-US" altLang="zh-CN"/>
          </a:p>
          <a:p>
            <a:r>
              <a:rPr lang="en-US" altLang="zh-CN"/>
              <a:t>balancing demand and supply, like a resourece allocation problem</a:t>
            </a:r>
          </a:p>
          <a:p>
            <a:endParaRPr lang="en-US" altLang="zh-CN"/>
          </a:p>
          <a:p>
            <a:r>
              <a:rPr lang="en-US" altLang="zh-CN"/>
              <a:t>fair allocation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1E4673-5BFB-4874-8DF0-EBDBB7594B5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859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1E4673-5BFB-4874-8DF0-EBDBB7594B5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216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RL framework</a:t>
            </a:r>
          </a:p>
          <a:p>
            <a:endParaRPr lang="en-US" altLang="zh-CN"/>
          </a:p>
          <a:p>
            <a:r>
              <a:rPr lang="en-US" altLang="zh-CN"/>
              <a:t>elaborate the details about MDP</a:t>
            </a:r>
          </a:p>
          <a:p>
            <a:endParaRPr lang="en-US" altLang="zh-CN"/>
          </a:p>
          <a:p>
            <a:r>
              <a:rPr lang="en-US" altLang="zh-CN"/>
              <a:t>4 vectors and 2 scalars</a:t>
            </a:r>
          </a:p>
          <a:p>
            <a:r>
              <a:rPr lang="en-US" altLang="zh-CN"/>
              <a:t>where subscript means time step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1E4673-5BFB-4874-8DF0-EBDBB7594B5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868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weighted sum of four subcomponents, which are named as </a:t>
            </a:r>
          </a:p>
          <a:p>
            <a:endParaRPr lang="en-US" altLang="zh-CN" dirty="0"/>
          </a:p>
          <a:p>
            <a:r>
              <a:rPr lang="en-US" altLang="zh-CN" dirty="0"/>
              <a:t>intuitively,</a:t>
            </a:r>
            <a:r>
              <a:rPr lang="zh-CN" altLang="en-US" dirty="0"/>
              <a:t> </a:t>
            </a:r>
            <a:r>
              <a:rPr lang="en-US" altLang="zh-CN" dirty="0"/>
              <a:t>D and F are two optimization goals our RL method tries to reach</a:t>
            </a:r>
          </a:p>
          <a:p>
            <a:r>
              <a:rPr lang="en-US" altLang="zh-CN" dirty="0"/>
              <a:t>RH and RO could be regarded as reward penalty</a:t>
            </a:r>
          </a:p>
          <a:p>
            <a:endParaRPr lang="en-US" altLang="zh-CN" dirty="0"/>
          </a:p>
          <a:p>
            <a:r>
              <a:rPr lang="en-US" altLang="zh-CN" dirty="0"/>
              <a:t>specifically, </a:t>
            </a:r>
          </a:p>
          <a:p>
            <a:r>
              <a:rPr lang="en-US" altLang="zh-CN" dirty="0"/>
              <a:t>D user’s DR </a:t>
            </a:r>
          </a:p>
          <a:p>
            <a:r>
              <a:rPr lang="en-US" altLang="zh-CN" dirty="0"/>
              <a:t>F negative value of divergence </a:t>
            </a:r>
            <a:r>
              <a:rPr lang="en-US" altLang="zh-CN" dirty="0" err="1"/>
              <a:t>beween</a:t>
            </a:r>
            <a:r>
              <a:rPr lang="en-US" altLang="zh-CN" dirty="0"/>
              <a:t> credit and satisfaction ratio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   negative value of divergence </a:t>
            </a:r>
            <a:r>
              <a:rPr lang="en-US" altLang="zh-CN" dirty="0" err="1"/>
              <a:t>beween</a:t>
            </a:r>
            <a:r>
              <a:rPr lang="en-US" altLang="zh-CN" dirty="0"/>
              <a:t> deployment and satisfaction ratio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divergence is defined as </a:t>
            </a:r>
            <a:r>
              <a:rPr lang="en-US" altLang="zh-CN" dirty="0" err="1"/>
              <a:t>Lp</a:t>
            </a:r>
            <a:r>
              <a:rPr lang="en-US" altLang="zh-CN" dirty="0"/>
              <a:t> norm between corresponding ranking vectors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if divergence is large, the fairness is small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deployment overflow , where for a user the incoming deployment is larger than current quota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local (user-level) penalty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allocation overflow, where the satisfaction ratio is too high to be precisely executed due to the lack of remaining quota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global penalty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1E4673-5BFB-4874-8DF0-EBDBB7594B5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868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QMP, in the respective of RL</a:t>
            </a:r>
          </a:p>
          <a:p>
            <a:endParaRPr lang="en-US" altLang="zh-CN"/>
          </a:p>
          <a:p>
            <a:r>
              <a:rPr lang="en-US" altLang="zh-CN"/>
              <a:t>rendering the action space high dimensional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1E4673-5BFB-4874-8DF0-EBDBB7594B5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746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MASP abbr.</a:t>
            </a:r>
          </a:p>
          <a:p>
            <a:endParaRPr lang="en-US" altLang="zh-CN"/>
          </a:p>
          <a:p>
            <a:r>
              <a:rPr lang="en-US" altLang="zh-CN"/>
              <a:t>global MDP</a:t>
            </a:r>
          </a:p>
          <a:p>
            <a:r>
              <a:rPr lang="en-US" altLang="zh-CN"/>
              <a:t>local MDP</a:t>
            </a:r>
          </a:p>
          <a:p>
            <a:endParaRPr lang="en-US" altLang="zh-CN"/>
          </a:p>
          <a:p>
            <a:r>
              <a:rPr lang="en-US" altLang="zh-CN"/>
              <a:t>A1 dim = 1</a:t>
            </a:r>
          </a:p>
          <a:p>
            <a:r>
              <a:rPr lang="en-US" altLang="zh-CN"/>
              <a:t>global components, fairness reward, allocation overflow</a:t>
            </a:r>
          </a:p>
          <a:p>
            <a:endParaRPr lang="en-US" altLang="zh-CN"/>
          </a:p>
          <a:p>
            <a:r>
              <a:rPr lang="en-US" altLang="zh-CN"/>
              <a:t>S2 request, credit, deployment quota dim = 4</a:t>
            </a:r>
          </a:p>
          <a:p>
            <a:r>
              <a:rPr lang="en-US" altLang="zh-CN"/>
              <a:t>A2 dim  = 1</a:t>
            </a:r>
          </a:p>
          <a:p>
            <a:r>
              <a:rPr lang="en-US" altLang="zh-CN"/>
              <a:t>local components, user DR, deployment overflow</a:t>
            </a:r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MASP resolves heterogeneirty and high dimensional problem by this splitting method.</a:t>
            </a:r>
          </a:p>
          <a:p>
            <a:r>
              <a:rPr lang="en-US" altLang="zh-CN"/>
              <a:t>Shared policy means that all user shared one instead of N allocation policies.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1E4673-5BFB-4874-8DF0-EBDBB7594B5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11962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 order to achieve balance among efficiency and </a:t>
            </a:r>
            <a:r>
              <a:rPr lang="en-US" altLang="zh-CN" dirty="0" err="1"/>
              <a:t>fainess</a:t>
            </a:r>
            <a:r>
              <a:rPr lang="en-US" altLang="zh-CN" dirty="0"/>
              <a:t>, we incorporate reward communication mechanism</a:t>
            </a:r>
          </a:p>
          <a:p>
            <a:r>
              <a:rPr lang="en-US" altLang="zh-CN" dirty="0"/>
              <a:t>specifically, linear adjustment</a:t>
            </a:r>
          </a:p>
          <a:p>
            <a:endParaRPr lang="en-US" altLang="zh-CN" dirty="0"/>
          </a:p>
          <a:p>
            <a:r>
              <a:rPr lang="en-US" altLang="zh-CN" dirty="0"/>
              <a:t>relative delta percentage of DR</a:t>
            </a:r>
          </a:p>
          <a:p>
            <a:r>
              <a:rPr lang="en-US" altLang="zh-CN" dirty="0"/>
              <a:t>scaled momentum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1E4673-5BFB-4874-8DF0-EBDBB7594B5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1879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1E4673-5BFB-4874-8DF0-EBDBB7594B5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979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1E4673-5BFB-4874-8DF0-EBDBB7594B5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4143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two tables for the evaluation of MASP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1E4673-5BFB-4874-8DF0-EBDBB7594B5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9600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has three advantages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1E4673-5BFB-4874-8DF0-EBDBB7594B5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7644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1E4673-5BFB-4874-8DF0-EBDBB7594B5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6100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3072E-4992-4D5D-9AFC-9FC705DCCA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C4C83-0704-90EF-1808-EB120CAD23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235BD-28DC-03D6-0956-B36FF294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D129-1DB0-4859-8899-7FBC6E98485D}" type="datetimeFigureOut">
              <a:rPr lang="zh-CN" altLang="en-US" smtClean="0"/>
              <a:t>2023/6/8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CC730-BD44-580C-8394-AC844709C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C47C1-98F4-3A14-F8DE-FF72E94D6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D7D-E87E-4B6C-9BE3-1DD631B9C9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55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2AAE2-4250-B5C4-E364-0C25DA6A9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D4488-A71F-A0BF-26E7-8118D2565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000"/>
            </a:lvl2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C2D74-4F8D-B2DE-3614-39C52FF33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D129-1DB0-4859-8899-7FBC6E98485D}" type="datetimeFigureOut">
              <a:rPr lang="zh-CN" altLang="en-US" smtClean="0"/>
              <a:t>2023/6/8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07DFB-58CB-2303-FAB8-ED8E0135D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1089C-C938-B629-31D0-ABA1140E5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D7D-E87E-4B6C-9BE3-1DD631B9C9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274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2CF29-9AAD-5781-DA00-EE532868D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1DD27-D10C-EE7E-26E5-6CACC804F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7DBED-3DDD-0C1F-22DA-CF0A6707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D129-1DB0-4859-8899-7FBC6E98485D}" type="datetimeFigureOut">
              <a:rPr lang="zh-CN" altLang="en-US" smtClean="0"/>
              <a:t>2023/6/8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8FC6D8-B657-1F29-E71E-46C412A71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51B12-3B11-8222-DDD1-82FAFBD3F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D7D-E87E-4B6C-9BE3-1DD631B9C9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495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75D68-A047-67C2-28D3-F1F6F7DFF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79332-74A3-23BF-C9EF-67A4DCE2EA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60352"/>
            <a:ext cx="5181600" cy="4616611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4C7E9-7CC4-1220-A902-A34D42E5D8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60352"/>
            <a:ext cx="5181600" cy="4616611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A49BDD-B3D5-A9D8-3401-B5C95B677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D129-1DB0-4859-8899-7FBC6E98485D}" type="datetimeFigureOut">
              <a:rPr lang="zh-CN" altLang="en-US" smtClean="0"/>
              <a:t>2023/6/8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45E4EC-E32D-F1B5-B914-737995C0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01B4B9-B5FE-9BE6-8E31-A61699C9F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D7D-E87E-4B6C-9BE3-1DD631B9C9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2243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27CF1-E38F-62E3-5FCE-B90617120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CB33B-BDEF-90FA-0D27-FB18B35AD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6AEC61-3F1A-830F-9BF9-DBB02FE10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049CCA-1C7D-9019-445A-C055DE0496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F5B2E8-1A05-2A60-712D-86F9161C9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481524-7E1B-5D5C-79D3-E316DFB0F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D129-1DB0-4859-8899-7FBC6E98485D}" type="datetimeFigureOut">
              <a:rPr lang="zh-CN" altLang="en-US" smtClean="0"/>
              <a:t>2023/6/8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C490DE-DC3C-EE96-68AE-A21233B32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783BD4-F39B-6582-2745-EF7F7C489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D7D-E87E-4B6C-9BE3-1DD631B9C9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6338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407E4-09C0-F4A5-0E4B-ABB7A3194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4339E-9186-39D9-7E50-3AB834914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D129-1DB0-4859-8899-7FBC6E98485D}" type="datetimeFigureOut">
              <a:rPr lang="zh-CN" altLang="en-US" smtClean="0"/>
              <a:t>2023/6/8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29161B-07EC-CF4E-831A-EF86665EC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5FD68D-B656-59C7-251A-9422CC131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D7D-E87E-4B6C-9BE3-1DD631B9C9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400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245810-8EB3-F3A3-DE05-D06517631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D129-1DB0-4859-8899-7FBC6E98485D}" type="datetimeFigureOut">
              <a:rPr lang="zh-CN" altLang="en-US" smtClean="0"/>
              <a:t>2023/6/8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12DBE9-ADDE-4B85-667E-0D4CFE46C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A55BA-CB33-5272-CBD9-BD25638C8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D7D-E87E-4B6C-9BE3-1DD631B9C9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481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21EC-8402-8C50-B7E0-FC112F763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56DD7-9E02-3D8F-D1E9-E92FF0502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8802CF-D514-EEB8-22E8-695EFCC541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E2B79-CB11-E591-FAB1-C8FDFB9DA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D129-1DB0-4859-8899-7FBC6E98485D}" type="datetimeFigureOut">
              <a:rPr lang="zh-CN" altLang="en-US" smtClean="0"/>
              <a:t>2023/6/8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58CF0-D9C1-A248-8628-104E65BA2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EAC361-CF06-3E1A-46F1-BE8ECA27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D7D-E87E-4B6C-9BE3-1DD631B9C9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8086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726A7-E534-0350-2647-A13F66EF7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CC4E51-997D-76A5-B448-60E351AAFE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122C1-1FE7-0B09-7387-6B3C84673B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91C9A-2C03-2413-CD87-B810D9ECA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D129-1DB0-4859-8899-7FBC6E98485D}" type="datetimeFigureOut">
              <a:rPr lang="zh-CN" altLang="en-US" smtClean="0"/>
              <a:t>2023/6/8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31ACF-067C-8A78-1989-E55CEBB3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B83CBA-7D68-F7E2-60A1-993EAC635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D7D-E87E-4B6C-9BE3-1DD631B9C9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705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9987A-8A41-5FEA-71CB-7FF800152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0CB7C3-1931-435B-7D57-85EB8A8506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7B37A-7443-34EA-C673-2580126F1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D129-1DB0-4859-8899-7FBC6E98485D}" type="datetimeFigureOut">
              <a:rPr lang="zh-CN" altLang="en-US" smtClean="0"/>
              <a:t>2023/6/8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AF0E8-1E50-0DEE-D512-90B97C6D5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5E91A-871A-A629-D32B-FFA8D43F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D7D-E87E-4B6C-9BE3-1DD631B9C9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1417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20480C-177C-A673-2A35-FDCA91F1D9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C69C5D-3599-223B-5861-863C9E16D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A35FD-0ABC-3308-3118-DC3B5064D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3D129-1DB0-4859-8899-7FBC6E98485D}" type="datetimeFigureOut">
              <a:rPr lang="zh-CN" altLang="en-US" smtClean="0"/>
              <a:t>2023/6/8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F5B477-024F-2C51-3DA3-996D2B7A3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76C39-BC21-C8B1-AE55-0DBCBD09A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919D7D-E87E-4B6C-9BE3-1DD631B9C9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298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A2047B-EF4D-07D6-65C7-09D10E644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10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17E6D-5E3D-CC29-5F04-E40927B29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51963"/>
            <a:ext cx="10515600" cy="462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F28D8-88A5-AEF0-2573-BA220E80E9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3D129-1DB0-4859-8899-7FBC6E98485D}" type="datetimeFigureOut">
              <a:rPr lang="zh-CN" altLang="en-US" smtClean="0"/>
              <a:t>2023/6/8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56649-ECC8-3A5B-7EAD-A2D0D05CAD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9F323-E9E7-C281-0153-FDD067125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919D7D-E87E-4B6C-9BE3-1DD631B9C93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A22A75-58CE-8CC7-142C-029C586BAEF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5609" y="6152921"/>
            <a:ext cx="1988191" cy="42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794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B1283-3A03-DA43-6092-89E7841D1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167871"/>
            <a:ext cx="10515600" cy="2852737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Multi-Agent Reinforcement Learning with Shared Policy for</a:t>
            </a:r>
            <a:br>
              <a:rPr lang="en-US" altLang="zh-CN"/>
            </a:br>
            <a:r>
              <a:rPr lang="en-US" altLang="zh-CN"/>
              <a:t>Cloud Quota Management Problem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6E7AE-2DC6-3B38-A9EF-5E01C8BD2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92601"/>
            <a:ext cx="10515600" cy="213677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b="0" i="0">
                <a:effectLst/>
                <a:latin typeface="Arial" panose="020B0604020202020204" pitchFamily="34" charset="0"/>
              </a:rPr>
              <a:t>Tong Cheng∗, Hang Dong, Lu Wang, Bo Qiao, Si Qin, Qingwei Lin, Dongmei Zhang, Saravan Rajmohan, Thomas Moscibroda</a:t>
            </a:r>
          </a:p>
          <a:p>
            <a:endParaRPr lang="en-US" altLang="zh-CN" b="0" i="0">
              <a:effectLst/>
              <a:latin typeface="Arial" panose="020B0604020202020204" pitchFamily="34" charset="0"/>
            </a:endParaRPr>
          </a:p>
          <a:p>
            <a:endParaRPr lang="en-US" altLang="zh-CN" b="0" i="0">
              <a:effectLst/>
              <a:latin typeface="Arial" panose="020B0604020202020204" pitchFamily="34" charset="0"/>
            </a:endParaRPr>
          </a:p>
          <a:p>
            <a:br>
              <a:rPr lang="en-US" altLang="zh-CN"/>
            </a:br>
            <a:endParaRPr lang="zh-CN" alt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2B5EB99-EDF4-320A-CE30-4CEEF209DD1F}"/>
              </a:ext>
            </a:extLst>
          </p:cNvPr>
          <p:cNvSpPr txBox="1">
            <a:spLocks/>
          </p:cNvSpPr>
          <p:nvPr/>
        </p:nvSpPr>
        <p:spPr>
          <a:xfrm>
            <a:off x="844550" y="5055657"/>
            <a:ext cx="10515600" cy="13737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n-NO" altLang="zh-CN" b="0" i="0">
                <a:effectLst/>
                <a:latin typeface="Arial" panose="020B0604020202020204" pitchFamily="34" charset="0"/>
              </a:rPr>
              <a:t>Microsoft Research, Microsoft 365, Microsoft Azure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930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A2370DE-E4C3-8618-350F-FAC0E39CC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Quota Management Problem</a:t>
            </a:r>
            <a:endParaRPr lang="zh-CN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53E11B1-86EB-DDA7-1C40-CD1B0D8F7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963"/>
            <a:ext cx="7029450" cy="4625000"/>
          </a:xfrm>
        </p:spPr>
        <p:txBody>
          <a:bodyPr/>
          <a:lstStyle/>
          <a:p>
            <a:r>
              <a:rPr lang="en-US" altLang="zh-CN"/>
              <a:t>quota: default limit of computing resources on cloud computing platforms</a:t>
            </a:r>
          </a:p>
          <a:p>
            <a:r>
              <a:rPr lang="en-US" altLang="zh-CN"/>
              <a:t>quota management system</a:t>
            </a:r>
          </a:p>
          <a:p>
            <a:r>
              <a:rPr lang="en-US" altLang="zh-CN"/>
              <a:t>desirable properties:</a:t>
            </a:r>
          </a:p>
          <a:p>
            <a:pPr lvl="1"/>
            <a:r>
              <a:rPr lang="en-US" altLang="zh-CN"/>
              <a:t>satisfy the expansion requests for users with growing demands</a:t>
            </a:r>
          </a:p>
          <a:p>
            <a:pPr lvl="1"/>
            <a:r>
              <a:rPr lang="en-US" altLang="zh-CN"/>
              <a:t>avoid large quota amount allocated to users with low demands on computing resources</a:t>
            </a:r>
          </a:p>
          <a:p>
            <a:pPr lvl="1"/>
            <a:r>
              <a:rPr lang="en-US" altLang="zh-CN"/>
              <a:t>maintain a reasonably fair balance among all the users on the quota management</a:t>
            </a:r>
            <a:endParaRPr lang="zh-CN" altLang="en-US"/>
          </a:p>
        </p:txBody>
      </p:sp>
      <p:pic>
        <p:nvPicPr>
          <p:cNvPr id="2054" name="Picture 6" descr="What Is Cloud Computing &amp; How Does 'The Cloud' Work?">
            <a:extLst>
              <a:ext uri="{FF2B5EF4-FFF2-40B4-BE49-F238E27FC236}">
                <a16:creationId xmlns:a16="http://schemas.microsoft.com/office/drawing/2014/main" id="{061F7E0B-5622-5C3C-E9BD-729735C7DD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0525" y="2171411"/>
            <a:ext cx="3648075" cy="2515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9479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84520E-40A9-2A2A-E4A4-1E1768863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8749" y="1428320"/>
            <a:ext cx="6292459" cy="40013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C96EB8-8887-DEEC-5347-2E7F437F6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Example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374AAD-6460-7D16-1AF5-5B38CB5EF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1963"/>
            <a:ext cx="5173133" cy="4625000"/>
          </a:xfrm>
        </p:spPr>
        <p:txBody>
          <a:bodyPr/>
          <a:lstStyle/>
          <a:p>
            <a:r>
              <a:rPr lang="en-US" altLang="zh-CN"/>
              <a:t>4 users: Amy, Bob, Sam, David</a:t>
            </a:r>
          </a:p>
          <a:p>
            <a:endParaRPr lang="en-US" altLang="zh-CN"/>
          </a:p>
          <a:p>
            <a:r>
              <a:rPr lang="en-US" altLang="zh-CN"/>
              <a:t>quota: (8, 4, 6, 2)</a:t>
            </a:r>
          </a:p>
          <a:p>
            <a:r>
              <a:rPr lang="en-US" altLang="zh-CN"/>
              <a:t>deployment: (3, 3, 4, 2)</a:t>
            </a:r>
          </a:p>
          <a:p>
            <a:r>
              <a:rPr lang="en-US" altLang="zh-CN"/>
              <a:t>credit score: (0.37, 0.75, 0.67, 1.0)</a:t>
            </a:r>
          </a:p>
          <a:p>
            <a:endParaRPr lang="en-US" altLang="zh-CN"/>
          </a:p>
          <a:p>
            <a:r>
              <a:rPr lang="en-US" altLang="zh-CN"/>
              <a:t>request: (-4, 0, 0, +4)</a:t>
            </a:r>
          </a:p>
          <a:p>
            <a:r>
              <a:rPr lang="en-US" altLang="zh-CN"/>
              <a:t>response: (1.0, 0, 0, 0.5)</a:t>
            </a:r>
          </a:p>
          <a:p>
            <a:pPr lvl="1"/>
            <a:r>
              <a:rPr lang="en-US" altLang="zh-CN"/>
              <a:t>satisfaction ratio</a:t>
            </a:r>
          </a:p>
          <a:p>
            <a:endParaRPr lang="en-US" altLang="zh-CN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865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5F5EE-A8BD-DA38-F97E-46D870606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RL Formulation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A51D64-52DD-4B43-58D0-B44B4C0EEA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/>
                  <a:t>tackle quota management problem by Reinforcement Learning (RL) method</a:t>
                </a:r>
              </a:p>
              <a:p>
                <a:r>
                  <a:rPr lang="en-US" altLang="zh-CN"/>
                  <a:t>Markov Decision Process (MDP)</a:t>
                </a:r>
              </a:p>
              <a:p>
                <a:r>
                  <a:rPr lang="en-US" altLang="zh-CN"/>
                  <a:t>state space   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/>
              </a:p>
              <a:p>
                <a:pPr lvl="1"/>
                <a:r>
                  <a:rPr lang="en-US" altLang="zh-CN"/>
                  <a:t>request vector: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/>
              </a:p>
              <a:p>
                <a:pPr lvl="1"/>
                <a:r>
                  <a:rPr lang="en-US" altLang="zh-CN"/>
                  <a:t>credit score vector: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/>
              </a:p>
              <a:p>
                <a:pPr lvl="1"/>
                <a:r>
                  <a:rPr lang="en-US" altLang="zh-CN"/>
                  <a:t>deployment vector: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/>
              </a:p>
              <a:p>
                <a:pPr lvl="1"/>
                <a:r>
                  <a:rPr lang="en-US" altLang="zh-CN"/>
                  <a:t>quota vector: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/>
              </a:p>
              <a:p>
                <a:pPr lvl="1"/>
                <a:r>
                  <a:rPr lang="en-US" altLang="zh-CN"/>
                  <a:t>platform available quota: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/>
              </a:p>
              <a:p>
                <a:pPr lvl="1"/>
                <a:r>
                  <a:rPr lang="en-US" altLang="zh-CN"/>
                  <a:t>total capacity: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/>
              </a:p>
              <a:p>
                <a:r>
                  <a:rPr lang="en-US" altLang="zh-CN"/>
                  <a:t>action space    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/>
              </a:p>
              <a:p>
                <a:pPr lvl="1"/>
                <a:r>
                  <a:rPr lang="en-US" altLang="zh-CN"/>
                  <a:t>satisfaction ratio vector: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/>
              </a:p>
              <a:p>
                <a:pPr lvl="1"/>
                <a:r>
                  <a:rPr lang="en-US" altLang="zh-CN"/>
                  <a:t>relax factor: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altLang="zh-CN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A51D64-52DD-4B43-58D0-B44B4C0EEA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7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D7914D1C-A2B0-6D1F-6382-817CEF5B4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6283" y="2465589"/>
            <a:ext cx="295235" cy="37628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B2086F3-155E-507E-3BF6-1967ABEFFA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0834" y="4981082"/>
            <a:ext cx="333422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308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9FFD9-5614-1C37-DA01-4781B42D6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RL Formulation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E36827-1A0C-B3C2-5F61-A5E120A51B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CN" b="0" dirty="0"/>
                  <a:t>reward function :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</m:oMath>
                </a14:m>
                <a:endParaRPr lang="en-US" altLang="zh-CN" b="0" dirty="0"/>
              </a:p>
              <a:p>
                <a:pPr lvl="1"/>
                <a:r>
                  <a:rPr lang="en-US" altLang="zh-CN" dirty="0"/>
                  <a:t>Goodhart’s law: when a measure becomes a target, it ceases to be a good measure</a:t>
                </a:r>
              </a:p>
              <a:p>
                <a:endParaRPr lang="en-US" altLang="zh-CN" b="0" dirty="0"/>
              </a:p>
              <a:p>
                <a:r>
                  <a:rPr lang="en-US" altLang="zh-CN" dirty="0"/>
                  <a:t>deployment</a:t>
                </a:r>
              </a:p>
              <a:p>
                <a:r>
                  <a:rPr lang="en-US" altLang="zh-CN" dirty="0"/>
                  <a:t>fairness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altLang="zh-CN" i="1" dirty="0"/>
                  <a:t> </a:t>
                </a:r>
                <a:r>
                  <a:rPr lang="en-US" altLang="zh-CN" dirty="0"/>
                  <a:t>is rank operator</a:t>
                </a:r>
                <a:endParaRPr lang="en-US" altLang="zh-CN" i="1" dirty="0"/>
              </a:p>
              <a:p>
                <a:r>
                  <a:rPr lang="en-US" altLang="zh-CN" dirty="0"/>
                  <a:t>deployment confined by quota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zh-CN" dirty="0"/>
                  <a:t> is expected deployment for </a:t>
                </a:r>
                <a:r>
                  <a:rPr lang="en-US" altLang="zh-CN" dirty="0" err="1"/>
                  <a:t>i-th</a:t>
                </a:r>
                <a:r>
                  <a:rPr lang="en-US" altLang="zh-CN" dirty="0"/>
                  <a:t> user</a:t>
                </a:r>
              </a:p>
              <a:p>
                <a:r>
                  <a:rPr lang="en-US" altLang="zh-CN" dirty="0"/>
                  <a:t>allocation over available quota</a:t>
                </a:r>
              </a:p>
              <a:p>
                <a:pPr lvl="1"/>
                <a:r>
                  <a:rPr lang="en-US" altLang="zh-CN" dirty="0"/>
                  <a:t>PA: positive allocation</a:t>
                </a:r>
              </a:p>
              <a:p>
                <a:pPr lvl="1"/>
                <a:r>
                  <a:rPr lang="en-US" altLang="zh-CN" dirty="0"/>
                  <a:t>NAQ: next available quota</a:t>
                </a:r>
                <a:endParaRPr lang="zh-CN" altLang="en-US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E36827-1A0C-B3C2-5F61-A5E120A51B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7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EA64923-408D-EF98-9775-C7D6B53E3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1296" y="2789982"/>
            <a:ext cx="1864795" cy="4114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596D9B-8865-2B6C-84C6-976076F35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498" y="3996992"/>
            <a:ext cx="3580756" cy="4114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C3E5F8-2B80-241E-E52E-C1083815CD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1296" y="3333944"/>
            <a:ext cx="5415104" cy="3979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825FC0-30C8-B55D-5CDD-904B140724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7593" y="4893142"/>
            <a:ext cx="2908969" cy="3447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05BBAF-6706-7E2A-0D01-93213DF0236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0498" y="5284130"/>
            <a:ext cx="2971561" cy="3447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DD735DD-F318-B2DA-5A22-CA158F78926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5026" y="5694687"/>
            <a:ext cx="3874176" cy="344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424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07B8C-930F-8117-DD2D-BA7C8FE70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Challenges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08884-A7DA-8697-8399-DE9221594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heterogeneous action space</a:t>
            </a:r>
          </a:p>
          <a:p>
            <a:pPr lvl="1"/>
            <a:r>
              <a:rPr lang="en-US" altLang="zh-CN"/>
              <a:t>user-level satisfaction ratio</a:t>
            </a:r>
          </a:p>
          <a:p>
            <a:pPr lvl="1"/>
            <a:r>
              <a:rPr lang="en-US" altLang="zh-CN"/>
              <a:t>system-level relax factor</a:t>
            </a:r>
          </a:p>
          <a:p>
            <a:r>
              <a:rPr lang="en-US" altLang="zh-CN"/>
              <a:t>high dimensional continuous action space</a:t>
            </a:r>
          </a:p>
          <a:p>
            <a:pPr lvl="1"/>
            <a:r>
              <a:rPr lang="en-US" altLang="zh-CN"/>
              <a:t>user level information in action</a:t>
            </a:r>
          </a:p>
          <a:p>
            <a:r>
              <a:rPr lang="en-US" altLang="zh-CN"/>
              <a:t>balance the system efficiency and fairness among users at the same time for a cloud computing platform.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228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988AD-C2E3-4648-FF39-770A0E751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Multi-Agent with Shared Policy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6F14DE-9FF5-7D37-2290-FB2F6233D5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/>
                  <a:t>break the original MDP                            into </a:t>
                </a:r>
              </a:p>
              <a:p>
                <a:pPr lvl="1"/>
                <a:r>
                  <a:rPr lang="en-US" altLang="zh-CN"/>
                  <a:t>MDP                                        with global information</a:t>
                </a:r>
              </a:p>
              <a:p>
                <a:pPr lvl="1"/>
                <a:r>
                  <a:rPr lang="en-US" altLang="zh-CN"/>
                  <a:t>MDP                                        with local information</a:t>
                </a:r>
              </a:p>
              <a:p>
                <a:pPr lvl="1"/>
                <a:endParaRPr lang="en-US" altLang="zh-CN"/>
              </a:p>
              <a:p>
                <a:r>
                  <a:rPr lang="en-US" altLang="zh-CN"/>
                  <a:t>     is exactly </a:t>
                </a:r>
              </a:p>
              <a:p>
                <a:r>
                  <a:rPr lang="en-US" altLang="zh-CN"/>
                  <a:t>     is relax factor space, i.e.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[0, 1]</m:t>
                    </m:r>
                  </m:oMath>
                </a14:m>
                <a:endParaRPr lang="en-US" altLang="zh-CN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/>
                  <a:t> contains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altLang="zh-CN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sub>
                    </m:sSub>
                  </m:oMath>
                </a14:m>
                <a:r>
                  <a:rPr lang="en-US" altLang="zh-CN"/>
                  <a:t> whose calculation needs global information</a:t>
                </a:r>
              </a:p>
              <a:p>
                <a:r>
                  <a:rPr lang="en-US" altLang="zh-CN"/>
                  <a:t>     contains only user-level information, independent with user number</a:t>
                </a:r>
              </a:p>
              <a:p>
                <a:r>
                  <a:rPr lang="en-US" altLang="zh-CN"/>
                  <a:t>     is satisfaction ratio space, i.e.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[0, 1]</m:t>
                    </m:r>
                  </m:oMath>
                </a14:m>
                <a:endParaRPr lang="en-US" altLang="zh-CN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/>
                  <a:t> contains summands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altLang="zh-CN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sub>
                    </m:sSub>
                  </m:oMath>
                </a14:m>
                <a:r>
                  <a:rPr lang="en-US" altLang="zh-CN"/>
                  <a:t> which is sum of terms calculated by local informaition</a:t>
                </a:r>
              </a:p>
              <a:p>
                <a:endParaRPr lang="en-US" altLang="zh-CN"/>
              </a:p>
              <a:p>
                <a:endParaRPr lang="en-US" altLang="zh-CN"/>
              </a:p>
              <a:p>
                <a:endParaRPr lang="en-US" altLang="zh-CN"/>
              </a:p>
              <a:p>
                <a:endParaRPr lang="en-US" altLang="zh-CN"/>
              </a:p>
              <a:p>
                <a:endParaRPr lang="en-US" altLang="zh-CN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6F14DE-9FF5-7D37-2290-FB2F6233D5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2" t="-1715" b="-5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E345433-E007-7039-7F41-8D97E8835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5606" y="1589768"/>
            <a:ext cx="2238687" cy="3334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4D817E-E0C7-4D34-EF3A-7B7AEBAF0B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5293" y="2267489"/>
            <a:ext cx="2667372" cy="3524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4B9689-72FF-A929-452F-4D80BDA7EF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80687" y="1958356"/>
            <a:ext cx="2667372" cy="3620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8FDE756-2643-EA1B-B7A4-A69180D26D3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412" y="3505474"/>
            <a:ext cx="473336" cy="3657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CE8461-23E1-8336-CBD3-B6BA8669172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351" y="4868787"/>
            <a:ext cx="426721" cy="3657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FCCCFF8-B79B-C99D-D11B-93580CD578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7417" y="3068426"/>
            <a:ext cx="332331" cy="35247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2279527-C063-E4D3-BB3C-79D7A33CAC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40548" y="3110761"/>
            <a:ext cx="249786" cy="29141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FE426A0-F94A-5EB5-F7D0-D0153C847D9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9845" y="4407052"/>
            <a:ext cx="370469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234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C73E-BC76-C28E-8A93-F86FF11A0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Reward Communication</a:t>
            </a:r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B3FF06-E317-F3E8-6F26-12862A33F6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add reward communication mechanism (linear adjustment)</a:t>
                </a:r>
              </a:p>
              <a:p>
                <a:endParaRPr lang="en-US" altLang="zh-CN" dirty="0"/>
              </a:p>
              <a:p>
                <a:endParaRPr lang="en-US" altLang="zh-CN" dirty="0"/>
              </a:p>
              <a:p>
                <a:r>
                  <a:rPr lang="en-US" altLang="zh-CN" dirty="0"/>
                  <a:t>manually setting parameters is difficult</a:t>
                </a:r>
              </a:p>
              <a:p>
                <a:r>
                  <a:rPr lang="en-US" altLang="zh-CN" dirty="0"/>
                  <a:t>adaptive weighting method where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dirty="0"/>
                  <a:t> is </a:t>
                </a:r>
                <a14:m>
                  <m:oMath xmlns:m="http://schemas.openxmlformats.org/officeDocument/2006/math">
                    <m:r>
                      <a:rPr lang="en-US" altLang="zh-CN" i="0" smtClean="0">
                        <a:latin typeface="Cambria Math" panose="02040503050406030204" pitchFamily="18" charset="0"/>
                      </a:rPr>
                      <m:t>1,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en-US" altLang="zh-CN" dirty="0"/>
                  <a:t>momentum</a:t>
                </a:r>
              </a:p>
              <a:p>
                <a:pPr lvl="1"/>
                <a:r>
                  <a:rPr lang="en-US" altLang="zh-CN" dirty="0"/>
                  <a:t>hyperparameter</a:t>
                </a:r>
              </a:p>
              <a:p>
                <a:pPr lvl="1"/>
                <a:endParaRPr lang="en-US" altLang="zh-CN" dirty="0"/>
              </a:p>
              <a:p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B3FF06-E317-F3E8-6F26-12862A33F6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44" t="-16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EE10D87D-763F-AA17-6943-3FF6A8999091}"/>
              </a:ext>
            </a:extLst>
          </p:cNvPr>
          <p:cNvGrpSpPr/>
          <p:nvPr/>
        </p:nvGrpSpPr>
        <p:grpSpPr>
          <a:xfrm>
            <a:off x="5228766" y="2074123"/>
            <a:ext cx="1543263" cy="744626"/>
            <a:chOff x="4939134" y="3893059"/>
            <a:chExt cx="1543263" cy="74462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383C88B-C97B-35A1-CAE6-807B3DE704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8184" y="3893059"/>
              <a:ext cx="1524213" cy="30484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0D4B96A-D946-5692-D689-C201D2C3F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39134" y="4304263"/>
              <a:ext cx="1524213" cy="333422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1B04A05-78FE-595D-40E0-B7F3FF08C5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5209" y="4583540"/>
            <a:ext cx="2381582" cy="4286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E944FE-07A4-96D2-4622-2EEB5FB244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898" y="5036323"/>
            <a:ext cx="2269314" cy="53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714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A8162-6CCE-EBB6-973C-336414588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Framework</a:t>
            </a:r>
            <a:endParaRPr lang="zh-CN" alt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0EB5D9C-0E5F-6DE7-D3EF-E2AB19804E0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783861" y="1547881"/>
            <a:ext cx="8946662" cy="376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872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A3BC6-5364-2548-7B14-ADFEECD60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Baselines</a:t>
            </a:r>
            <a:endParaRPr lang="zh-CN" alt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2282AD-1EC0-36BC-6958-CD2208B5D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random: action has uniform distribution over action space</a:t>
            </a:r>
          </a:p>
          <a:p>
            <a:r>
              <a:rPr lang="en-US" altLang="zh-CN"/>
              <a:t>fixed: constant satisfaction ratio</a:t>
            </a:r>
          </a:p>
          <a:p>
            <a:r>
              <a:rPr lang="en-US" altLang="zh-CN"/>
              <a:t>greedy: action is derived from the incoming deployment</a:t>
            </a:r>
          </a:p>
          <a:p>
            <a:pPr lvl="1"/>
            <a:r>
              <a:rPr lang="en-US" altLang="zh-CN"/>
              <a:t>e.x. for a given user,</a:t>
            </a:r>
          </a:p>
          <a:p>
            <a:pPr lvl="1"/>
            <a:r>
              <a:rPr lang="en-US" altLang="zh-CN"/>
              <a:t>quota 20, deployment 10, request 10, incoming delta deployment +5</a:t>
            </a:r>
          </a:p>
          <a:p>
            <a:pPr lvl="1"/>
            <a:r>
              <a:rPr lang="en-US" altLang="zh-CN"/>
              <a:t>satisfaction ratio is 0.5 under greedy policy (delta deployment / request)</a:t>
            </a:r>
          </a:p>
          <a:p>
            <a:r>
              <a:rPr lang="en-US" altLang="zh-CN"/>
              <a:t>DDPG: deep deterministic policy gradient</a:t>
            </a:r>
          </a:p>
          <a:p>
            <a:pPr lvl="1"/>
            <a:r>
              <a:rPr lang="en-US" altLang="zh-CN"/>
              <a:t>deterministic policy</a:t>
            </a:r>
          </a:p>
          <a:p>
            <a:r>
              <a:rPr lang="en-US" altLang="zh-CN"/>
              <a:t>SAC: soft actor critic</a:t>
            </a:r>
          </a:p>
          <a:p>
            <a:pPr lvl="1"/>
            <a:r>
              <a:rPr lang="en-US" altLang="zh-CN"/>
              <a:t>stochastic policy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762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C7F75-8F62-4560-C1C7-A4DD5B816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Experiments</a:t>
            </a:r>
            <a:endParaRPr lang="zh-CN" altLang="en-US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B68841F4-C54A-D614-1298-ACD46200FED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443112"/>
            <a:ext cx="5181600" cy="2940423"/>
          </a:xfr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63C05454-F8BA-5A44-0CC2-B75D7A40007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913060" y="1489175"/>
            <a:ext cx="3982006" cy="2314898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118170-F332-C994-B3B1-DE193501E9EF}"/>
              </a:ext>
            </a:extLst>
          </p:cNvPr>
          <p:cNvSpPr txBox="1"/>
          <p:nvPr/>
        </p:nvSpPr>
        <p:spPr>
          <a:xfrm>
            <a:off x="965198" y="4655608"/>
            <a:ext cx="41232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Performance evaluation on deployment ratio (DR) and allocation fairness (AF).</a:t>
            </a:r>
          </a:p>
          <a:p>
            <a:endParaRPr lang="en-US" altLang="zh-CN"/>
          </a:p>
          <a:p>
            <a:r>
              <a:rPr lang="en-US" altLang="zh-CN"/>
              <a:t>For MASP-DDPG and MASP-SAC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almost performant to greedy in DR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dominant performance in AF</a:t>
            </a:r>
            <a:endParaRPr lang="zh-CN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48EC89-D51A-79E9-1375-B15835BB7BC1}"/>
              </a:ext>
            </a:extLst>
          </p:cNvPr>
          <p:cNvSpPr txBox="1"/>
          <p:nvPr/>
        </p:nvSpPr>
        <p:spPr>
          <a:xfrm>
            <a:off x="6087532" y="4671483"/>
            <a:ext cx="5266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Ablation study for reward communication on MASP-DDPG and MASP-SAC.</a:t>
            </a:r>
          </a:p>
          <a:p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adaptive method achieves better trade-off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6993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47450-19B5-4B38-21EA-934FCEEAB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Conclusion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EA7B3-50F8-2293-F2F9-80663D4C0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3599"/>
            <a:ext cx="10515600" cy="4043363"/>
          </a:xfrm>
        </p:spPr>
        <p:txBody>
          <a:bodyPr/>
          <a:lstStyle/>
          <a:p>
            <a:r>
              <a:rPr lang="en-US" altLang="zh-CN"/>
              <a:t>lower the learning barrier induced by heterogeneous action space</a:t>
            </a:r>
          </a:p>
          <a:p>
            <a:r>
              <a:rPr lang="en-US" altLang="zh-CN"/>
              <a:t>mitigate the curse of dimensionality of action space</a:t>
            </a:r>
          </a:p>
          <a:p>
            <a:r>
              <a:rPr lang="en-US" altLang="zh-CN"/>
              <a:t>achieve trade-off between efficiency and fairness</a:t>
            </a:r>
          </a:p>
          <a:p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25471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01CE38-A1FB-68CE-DCE3-C8F45968A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6525"/>
            <a:ext cx="10515600" cy="1325563"/>
          </a:xfrm>
        </p:spPr>
        <p:txBody>
          <a:bodyPr/>
          <a:lstStyle/>
          <a:p>
            <a:pPr algn="ctr"/>
            <a:r>
              <a:rPr lang="en-US" altLang="zh-CN"/>
              <a:t>Thanks for your attention!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610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CE2C46-F07B-4FB3-B970-66E3A0094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Algorithm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Content Placeholder 6">
            <a:extLst>
              <a:ext uri="{FF2B5EF4-FFF2-40B4-BE49-F238E27FC236}">
                <a16:creationId xmlns:a16="http://schemas.microsoft.com/office/drawing/2014/main" id="{B02C18B3-B1A6-D3D2-4556-25548AC9B6A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02428" y="665151"/>
            <a:ext cx="7225748" cy="5527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124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950</TotalTime>
  <Words>919</Words>
  <Application>Microsoft Office PowerPoint</Application>
  <PresentationFormat>Widescreen</PresentationFormat>
  <Paragraphs>184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等线</vt:lpstr>
      <vt:lpstr>等线 Light</vt:lpstr>
      <vt:lpstr>Arial</vt:lpstr>
      <vt:lpstr>Cambria Math</vt:lpstr>
      <vt:lpstr>Office Theme</vt:lpstr>
      <vt:lpstr>Multi-Agent Reinforcement Learning with Shared Policy for Cloud Quota Management Problem</vt:lpstr>
      <vt:lpstr>Quota Management Problem</vt:lpstr>
      <vt:lpstr>Example</vt:lpstr>
      <vt:lpstr>RL Formulation</vt:lpstr>
      <vt:lpstr>RL Formulation</vt:lpstr>
      <vt:lpstr>Challenges</vt:lpstr>
      <vt:lpstr>Multi-Agent with Shared Policy</vt:lpstr>
      <vt:lpstr>Reward Communication</vt:lpstr>
      <vt:lpstr>Framework</vt:lpstr>
      <vt:lpstr>Baselines</vt:lpstr>
      <vt:lpstr>Experiments</vt:lpstr>
      <vt:lpstr>Conclusion</vt:lpstr>
      <vt:lpstr>Thanks for your attention!</vt:lpstr>
      <vt:lpstr>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Cheng Tong</dc:creator>
  <cp:lastModifiedBy>Cheng Tong</cp:lastModifiedBy>
  <cp:revision>30</cp:revision>
  <dcterms:created xsi:type="dcterms:W3CDTF">2023-02-01T00:12:45Z</dcterms:created>
  <dcterms:modified xsi:type="dcterms:W3CDTF">2023-06-08T08:01:29Z</dcterms:modified>
</cp:coreProperties>
</file>