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81" r:id="rId3"/>
    <p:sldId id="282" r:id="rId4"/>
    <p:sldId id="257" r:id="rId5"/>
    <p:sldId id="284" r:id="rId6"/>
    <p:sldId id="273" r:id="rId7"/>
    <p:sldId id="274" r:id="rId8"/>
    <p:sldId id="283" r:id="rId9"/>
    <p:sldId id="275" r:id="rId10"/>
    <p:sldId id="276" r:id="rId11"/>
    <p:sldId id="272" r:id="rId12"/>
    <p:sldId id="269" r:id="rId13"/>
    <p:sldId id="264" r:id="rId14"/>
    <p:sldId id="278" r:id="rId15"/>
    <p:sldId id="279" r:id="rId16"/>
    <p:sldId id="266" r:id="rId17"/>
    <p:sldId id="258"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4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9811" autoAdjust="0"/>
  </p:normalViewPr>
  <p:slideViewPr>
    <p:cSldViewPr snapToGrid="0">
      <p:cViewPr varScale="1">
        <p:scale>
          <a:sx n="94" d="100"/>
          <a:sy n="94" d="100"/>
        </p:scale>
        <p:origin x="375" y="42"/>
      </p:cViewPr>
      <p:guideLst>
        <p:guide orient="horz" pos="1968"/>
        <p:guide pos="4416"/>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6A216F-63E7-4F7A-9D51-19BBBC98BB60}" type="datetimeFigureOut">
              <a:rPr lang="zh-CN" altLang="en-US" smtClean="0"/>
              <a:t>2024/7/17</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0710BB-0041-4105-B231-B35D320A1D34}" type="slidenum">
              <a:rPr lang="zh-CN" altLang="en-US" smtClean="0"/>
              <a:t>‹#›</a:t>
            </a:fld>
            <a:endParaRPr lang="zh-CN" altLang="en-US"/>
          </a:p>
        </p:txBody>
      </p:sp>
    </p:spTree>
    <p:extLst>
      <p:ext uri="{BB962C8B-B14F-4D97-AF65-F5344CB8AC3E}">
        <p14:creationId xmlns:p14="http://schemas.microsoft.com/office/powerpoint/2010/main" val="304544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Hi, everyone! Thanks for joining this poster presentation. I’m Tong Cheng, a PhD student in NTU. This work was done during my internship in Microsoft research.</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endParaRPr lang="en-US" altLang="zh-CN"/>
          </a:p>
          <a:p>
            <a:endParaRPr lang="en-US" altLang="zh-CN"/>
          </a:p>
          <a:p>
            <a:endParaRPr lang="en-US" altLang="zh-CN"/>
          </a:p>
          <a:p>
            <a:r>
              <a:rPr lang="en-US" altLang="zh-CN"/>
              <a:t>IJCAI </a:t>
            </a:r>
            <a:r>
              <a:rPr lang="en-US" altLang="zh-CN" dirty="0"/>
              <a:t>23</a:t>
            </a:r>
          </a:p>
          <a:p>
            <a:r>
              <a:rPr lang="en-US" altLang="zh-CN" dirty="0"/>
              <a:t>title has three implications:</a:t>
            </a:r>
          </a:p>
          <a:p>
            <a:pPr marL="171450" indent="-171450">
              <a:buFontTx/>
              <a:buChar char="-"/>
            </a:pPr>
            <a:r>
              <a:rPr lang="en-US" altLang="zh-CN" dirty="0"/>
              <a:t>reinforcement learning algorithm</a:t>
            </a:r>
          </a:p>
          <a:p>
            <a:pPr marL="171450" indent="-171450">
              <a:buFontTx/>
              <a:buChar char="-"/>
            </a:pPr>
            <a:r>
              <a:rPr lang="en-US" altLang="zh-CN" dirty="0"/>
              <a:t>visual control</a:t>
            </a:r>
          </a:p>
          <a:p>
            <a:pPr marL="171450" indent="-171450">
              <a:buFontTx/>
              <a:buChar char="-"/>
            </a:pPr>
            <a:r>
              <a:rPr lang="en-US" altLang="zh-CN" dirty="0"/>
              <a:t>SMTC</a:t>
            </a:r>
          </a:p>
          <a:p>
            <a:pPr marL="0" indent="0">
              <a:buFontTx/>
              <a:buNone/>
            </a:pPr>
            <a:endParaRPr lang="en-US" altLang="zh-CN" dirty="0"/>
          </a:p>
          <a:p>
            <a:pPr marL="0" indent="0">
              <a:buFontTx/>
              <a:buNone/>
            </a:pPr>
            <a:r>
              <a:rPr lang="en-US" altLang="zh-CN" dirty="0"/>
              <a:t>novelty</a:t>
            </a:r>
          </a:p>
          <a:p>
            <a:pPr marL="0" indent="0">
              <a:buFontTx/>
              <a:buNone/>
            </a:pPr>
            <a:r>
              <a:rPr lang="en-US" altLang="zh-CN" dirty="0"/>
              <a:t>- SMTC</a:t>
            </a:r>
          </a:p>
          <a:p>
            <a:endParaRPr lang="zh-CN" altLang="en-US" dirty="0"/>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1</a:t>
            </a:fld>
            <a:endParaRPr lang="zh-CN" altLang="en-US"/>
          </a:p>
        </p:txBody>
      </p:sp>
    </p:spTree>
    <p:extLst>
      <p:ext uri="{BB962C8B-B14F-4D97-AF65-F5344CB8AC3E}">
        <p14:creationId xmlns:p14="http://schemas.microsoft.com/office/powerpoint/2010/main" val="3043782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Visual control or learning from pixels is a reinforcement learning (RL) problem with states in the form of images.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one of the biggest challenges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 order to mitigate this issue, we </a:t>
            </a:r>
            <a:r>
              <a:rPr lang="en-US" altLang="zh-CN" dirty="0" err="1"/>
              <a:t>focues</a:t>
            </a:r>
            <a:r>
              <a:rPr lang="en-US" altLang="zh-CN" dirty="0"/>
              <a:t> on two directions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we observe that multi-view data are available in many application scenarios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and we can utilize them to help distinguish task-relevant information from task-irrelevant information that is independent of actions.</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incorporate the predictability of future states on potential actions while discarding task-irrelevant visual details,</a:t>
            </a:r>
            <a:endParaRPr lang="zh-CN" altLang="en-US" dirty="0"/>
          </a:p>
          <a:p>
            <a:endParaRPr lang="zh-CN" altLang="en-US" dirty="0"/>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4</a:t>
            </a:fld>
            <a:endParaRPr lang="zh-CN" altLang="en-US"/>
          </a:p>
        </p:txBody>
      </p:sp>
    </p:spTree>
    <p:extLst>
      <p:ext uri="{BB962C8B-B14F-4D97-AF65-F5344CB8AC3E}">
        <p14:creationId xmlns:p14="http://schemas.microsoft.com/office/powerpoint/2010/main" val="2825219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In this work, we aim to solve visual control problem using reinforcement learning algorithms.</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Recently, there are quite a few works focusing on training intelligent agent on raw pixels instead of directly using physical information as states. For visual control problems, transform</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Generally, there are two challenges for visual control problem. </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Correspondingly, the ideal properties … are usually dubbed as sufficiency and conciseness.</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We believe leveraging multi-view observation could further enhance performance of agent.</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5</a:t>
            </a:fld>
            <a:endParaRPr lang="zh-CN" altLang="en-US"/>
          </a:p>
        </p:txBody>
      </p:sp>
    </p:spTree>
    <p:extLst>
      <p:ext uri="{BB962C8B-B14F-4D97-AF65-F5344CB8AC3E}">
        <p14:creationId xmlns:p14="http://schemas.microsoft.com/office/powerpoint/2010/main" val="3015792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Our story starts from a mathematical concept called total correlation.</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For instance, in the figure we use size of area to denote the degree of information a random variable cover. In both cases (a) and (b), the shaded area is total correlation given two observation and a representation.</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TC quantifies the redundancy and dependency among a set of random variables</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sum </a:t>
            </a:r>
            <a:r>
              <a:rPr lang="en-US" altLang="zh-CN" dirty="0"/>
              <a:t>of mutual information between single observation and representation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minus MI between multi-view </a:t>
            </a:r>
            <a:r>
              <a:rPr lang="en-US" altLang="zh-CN" dirty="0" err="1"/>
              <a:t>obs</a:t>
            </a:r>
            <a:r>
              <a:rPr lang="en-US" altLang="zh-CN" dirty="0"/>
              <a:t> and rep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Maximizing the expected total correlation between multi-view observation and representation can not only enforce informativeness but also guarantee sufficiency of the representation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left figure is an example of MVTC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area is the degree of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green denotes observation while red denotes representation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shaded area is the MVTC</a:t>
            </a:r>
            <a:endParaRPr lang="zh-CN" altLang="en-US" dirty="0"/>
          </a:p>
          <a:p>
            <a:pPr algn="ctr"/>
            <a:endParaRPr lang="zh-CN" altLang="en-US" dirty="0"/>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6</a:t>
            </a:fld>
            <a:endParaRPr lang="zh-CN" altLang="en-US"/>
          </a:p>
        </p:txBody>
      </p:sp>
    </p:spTree>
    <p:extLst>
      <p:ext uri="{BB962C8B-B14F-4D97-AF65-F5344CB8AC3E}">
        <p14:creationId xmlns:p14="http://schemas.microsoft.com/office/powerpoint/2010/main" val="2796760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Total correlation is time indifferent. However, reinforcement learning focuses on sequential decision-making problem.</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PI-SAC, a previous SOTA method, includes temporal structure under conditional entropy bottleneck term.</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Motivated by this technique, we want to extend multi-view total correlation into time-dependent one such that it also captures temporal structure.</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r>
              <a:rPr lang="en-US" altLang="zh-CN"/>
              <a:t>in order to solve RL in visual control, we extend MVTC into sequential MVTC, abbr. SMuCo</a:t>
            </a:r>
          </a:p>
          <a:p>
            <a:endParaRPr lang="en-US" altLang="zh-CN"/>
          </a:p>
          <a:p>
            <a:r>
              <a:rPr lang="en-US" altLang="zh-CN"/>
              <a:t>in literature of PI-SAC, it incorporates TS under CEB method, whose formulation is briefed in the right formulas</a:t>
            </a:r>
          </a:p>
          <a:p>
            <a:endParaRPr lang="en-US" altLang="zh-CN"/>
          </a:p>
          <a:p>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likewise, sum of MI between single obs sequence and repr seq</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minus MI between multi-view obs sequence and rep seq,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both on condition of action sequence</a:t>
            </a:r>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7</a:t>
            </a:fld>
            <a:endParaRPr lang="zh-CN" altLang="en-US"/>
          </a:p>
        </p:txBody>
      </p:sp>
    </p:spTree>
    <p:extLst>
      <p:ext uri="{BB962C8B-B14F-4D97-AF65-F5344CB8AC3E}">
        <p14:creationId xmlns:p14="http://schemas.microsoft.com/office/powerpoint/2010/main" val="3099477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Our objective is to maximize SMTC. </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Unfortunately, SMTC is intractable to compute. So, we need to find an appropriate lower bound as surrogate loss.</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Theorem 3.1 shows such a computable lower bound. It consists of three terms, which we dub as reconstruction term, expected logarithmic likelihood term and temporal contrastive term.</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9</a:t>
            </a:fld>
            <a:endParaRPr lang="zh-CN" altLang="en-US"/>
          </a:p>
        </p:txBody>
      </p:sp>
    </p:spTree>
    <p:extLst>
      <p:ext uri="{BB962C8B-B14F-4D97-AF65-F5344CB8AC3E}">
        <p14:creationId xmlns:p14="http://schemas.microsoft.com/office/powerpoint/2010/main" val="3824033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Our algorithm is based on the backbone of SAC algorithm. One of the remarkable differences are that encoder is updated by gradient descent method over surrogate loss and output of encoder are used as physical state for downstream decision making.</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10</a:t>
            </a:fld>
            <a:endParaRPr lang="zh-CN" altLang="en-US"/>
          </a:p>
        </p:txBody>
      </p:sp>
    </p:spTree>
    <p:extLst>
      <p:ext uri="{BB962C8B-B14F-4D97-AF65-F5344CB8AC3E}">
        <p14:creationId xmlns:p14="http://schemas.microsoft.com/office/powerpoint/2010/main" val="3368677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Here is the framework of SMuCo. Multi-view observations are collected during interaction with environments using fixed policy parameters. Then observation, action and reward tuples are sampled from replay buffer to update parameters of encoder, policy network and Q network.</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endParaRPr lang="en-US" altLang="zh-CN"/>
          </a:p>
          <a:p>
            <a:pPr algn="just"/>
            <a:r>
              <a:rPr lang="en-US" altLang="zh-CN" sz="1800" kern="100">
                <a:effectLst/>
                <a:latin typeface="Times New Roman" panose="02020603050405020304" pitchFamily="18" charset="0"/>
                <a:ea typeface="等线" panose="02010600030101010101" pitchFamily="2" charset="-122"/>
                <a:cs typeface="Times New Roman" panose="02020603050405020304" pitchFamily="18" charset="0"/>
              </a:rPr>
              <a:t>For encoder architecture, we use product of expert and inverse variance weighted method to compute representations with least variance.</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 </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Mixture of experts technique uses multiple expert learners to divide a problem into homogeneous spaces.</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SG" altLang="zh-CN" sz="1800" kern="10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rPr>
              <a:t>In statistics, inverse-variance weighting is a method of aggregating two or more random variables to minimize the variance of the weighted average.</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11</a:t>
            </a:fld>
            <a:endParaRPr lang="zh-CN" altLang="en-US"/>
          </a:p>
        </p:txBody>
      </p:sp>
    </p:spTree>
    <p:extLst>
      <p:ext uri="{BB962C8B-B14F-4D97-AF65-F5344CB8AC3E}">
        <p14:creationId xmlns:p14="http://schemas.microsoft.com/office/powerpoint/2010/main" val="4241362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SG" altLang="zh-CN" sz="1800" kern="100">
                <a:effectLst/>
                <a:latin typeface="Times New Roman" panose="02020603050405020304" pitchFamily="18" charset="0"/>
                <a:ea typeface="等线" panose="02010600030101010101" pitchFamily="2" charset="-122"/>
                <a:cs typeface="Times New Roman" panose="02020603050405020304" pitchFamily="18" charset="0"/>
              </a:rPr>
              <a:t>We use 6 SOTA methods as our baselines. </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SG" altLang="zh-CN" sz="1800" kern="100">
                <a:effectLst/>
                <a:latin typeface="Times New Roman" panose="02020603050405020304" pitchFamily="18" charset="0"/>
                <a:ea typeface="等线" panose="02010600030101010101" pitchFamily="2" charset="-122"/>
                <a:cs typeface="Times New Roman" panose="02020603050405020304" pitchFamily="18" charset="0"/>
              </a:rPr>
              <a:t>Here is a table summarizing three properties of these methods. In other words, by asking whether the algorithm is model-free? Whether the algorithm uses concise representations? Whether the algorithm optimizes an information theoretic loss function, we could give these methods a rough classification.</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12</a:t>
            </a:fld>
            <a:endParaRPr lang="zh-CN" altLang="en-US"/>
          </a:p>
        </p:txBody>
      </p:sp>
    </p:spTree>
    <p:extLst>
      <p:ext uri="{BB962C8B-B14F-4D97-AF65-F5344CB8AC3E}">
        <p14:creationId xmlns:p14="http://schemas.microsoft.com/office/powerpoint/2010/main" val="732437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SG" altLang="zh-CN" sz="1800" kern="100">
                <a:effectLst/>
                <a:latin typeface="Times New Roman" panose="02020603050405020304" pitchFamily="18" charset="0"/>
                <a:ea typeface="等线" panose="02010600030101010101" pitchFamily="2" charset="-122"/>
                <a:cs typeface="Times New Roman" panose="02020603050405020304" pitchFamily="18" charset="0"/>
              </a:rPr>
              <a:t>Here are our experimental results. In each diagram, we plot the expected cumulative rewards of different methods after certain training steps. First two rows depict tasks from DeepMind Control Suite. Last row depict basic manipulation task from Sapien project.</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SG" altLang="zh-CN" sz="1800" kern="100">
                <a:effectLst/>
                <a:latin typeface="Times New Roman" panose="02020603050405020304" pitchFamily="18" charset="0"/>
                <a:ea typeface="等线" panose="02010600030101010101" pitchFamily="2" charset="-122"/>
                <a:cs typeface="Times New Roman" panose="02020603050405020304" pitchFamily="18" charset="0"/>
              </a:rPr>
              <a:t>As we can see, our method outperforms on most of these tasks. However, it is not the best agent for Ball in cup, catch and basic manipulation (ud). After investigation, we found that multi-view observations do not vary too much under these tasks, causing our method less performant than other baselines.</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13</a:t>
            </a:fld>
            <a:endParaRPr lang="zh-CN" altLang="en-US"/>
          </a:p>
        </p:txBody>
      </p:sp>
    </p:spTree>
    <p:extLst>
      <p:ext uri="{BB962C8B-B14F-4D97-AF65-F5344CB8AC3E}">
        <p14:creationId xmlns:p14="http://schemas.microsoft.com/office/powerpoint/2010/main" val="395630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altLang="zh-CN" sz="1800" kern="100">
                <a:effectLst/>
                <a:latin typeface="Times New Roman" panose="02020603050405020304" pitchFamily="18" charset="0"/>
                <a:ea typeface="等线" panose="02010600030101010101" pitchFamily="2" charset="-122"/>
                <a:cs typeface="Times New Roman" panose="02020603050405020304" pitchFamily="18" charset="0"/>
              </a:rPr>
              <a:t>Here are three ablation study to found empirically best surrogate loss, temporal length and number of views, which are all hyperparameters of SMuCo.</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14</a:t>
            </a:fld>
            <a:endParaRPr lang="zh-CN" altLang="en-US"/>
          </a:p>
        </p:txBody>
      </p:sp>
    </p:spTree>
    <p:extLst>
      <p:ext uri="{BB962C8B-B14F-4D97-AF65-F5344CB8AC3E}">
        <p14:creationId xmlns:p14="http://schemas.microsoft.com/office/powerpoint/2010/main" val="1801771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altLang="zh-CN" sz="1800" kern="100">
                <a:effectLst/>
                <a:latin typeface="Times New Roman" panose="02020603050405020304" pitchFamily="18" charset="0"/>
                <a:ea typeface="等线" panose="02010600030101010101" pitchFamily="2" charset="-122"/>
                <a:cs typeface="Times New Roman" panose="02020603050405020304" pitchFamily="18" charset="0"/>
              </a:rPr>
              <a:t>Additionally, we have also plotted spatial attention maps on four tasks. We observe that if the learned representation fits task-relevant information well enough, the performance of our method is relative good. Otherwise, it is relatively bad comparing with other SOTA methods.</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15</a:t>
            </a:fld>
            <a:endParaRPr lang="zh-CN" altLang="en-US"/>
          </a:p>
        </p:txBody>
      </p:sp>
    </p:spTree>
    <p:extLst>
      <p:ext uri="{BB962C8B-B14F-4D97-AF65-F5344CB8AC3E}">
        <p14:creationId xmlns:p14="http://schemas.microsoft.com/office/powerpoint/2010/main" val="3560023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SG" altLang="zh-CN" sz="1800" kern="100">
                <a:effectLst/>
                <a:latin typeface="Times New Roman" panose="02020603050405020304" pitchFamily="18" charset="0"/>
                <a:ea typeface="等线" panose="02010600030101010101" pitchFamily="2" charset="-122"/>
                <a:cs typeface="Times New Roman" panose="02020603050405020304" pitchFamily="18" charset="0"/>
              </a:rPr>
              <a:t>In conclusion, we aim to obtain … to enhance the performance of agent in visual control tasks. To achieve this goal, we propose SMTC to maximize. Since SMTC is intractable to compute, we find an appropriate surrogate loss by lowering bounding SMTC.</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SG" altLang="zh-CN" sz="1800" kern="100">
                <a:effectLst/>
                <a:latin typeface="Times New Roman" panose="02020603050405020304" pitchFamily="18" charset="0"/>
                <a:ea typeface="等线" panose="02010600030101010101" pitchFamily="2" charset="-122"/>
                <a:cs typeface="Times New Roman" panose="02020603050405020304" pitchFamily="18" charset="0"/>
              </a:rPr>
              <a:t> </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SG" altLang="zh-CN" sz="1800" kern="100">
                <a:effectLst/>
                <a:latin typeface="Times New Roman" panose="02020603050405020304" pitchFamily="18" charset="0"/>
                <a:ea typeface="等线" panose="02010600030101010101" pitchFamily="2" charset="-122"/>
                <a:cs typeface="Times New Roman" panose="02020603050405020304" pitchFamily="18" charset="0"/>
              </a:rPr>
              <a:t>In the future, we aim to extend the algorithm to …. Furthermore, if multi-view observation is partially missing, our algorithm could become useless. Hence, we hope improved SMuCo could resolve this pain-point.</a:t>
            </a:r>
            <a:endParaRPr lang="zh-CN" altLang="zh-CN" sz="1800" kern="10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a:p>
        </p:txBody>
      </p:sp>
      <p:sp>
        <p:nvSpPr>
          <p:cNvPr id="4" name="Slide Number Placeholder 3"/>
          <p:cNvSpPr>
            <a:spLocks noGrp="1"/>
          </p:cNvSpPr>
          <p:nvPr>
            <p:ph type="sldNum" sz="quarter" idx="5"/>
          </p:nvPr>
        </p:nvSpPr>
        <p:spPr/>
        <p:txBody>
          <a:bodyPr/>
          <a:lstStyle/>
          <a:p>
            <a:fld id="{290710BB-0041-4105-B231-B35D320A1D34}" type="slidenum">
              <a:rPr lang="zh-CN" altLang="en-US" smtClean="0"/>
              <a:t>16</a:t>
            </a:fld>
            <a:endParaRPr lang="zh-CN" altLang="en-US"/>
          </a:p>
        </p:txBody>
      </p:sp>
    </p:spTree>
    <p:extLst>
      <p:ext uri="{BB962C8B-B14F-4D97-AF65-F5344CB8AC3E}">
        <p14:creationId xmlns:p14="http://schemas.microsoft.com/office/powerpoint/2010/main" val="3445479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3072E-4992-4D5D-9AFC-9FC705DCCAB1}"/>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3A5C4C83-0704-90EF-1808-EB120CAD23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141235BD-28DC-03D6-0956-B36FF2943BA0}"/>
              </a:ext>
            </a:extLst>
          </p:cNvPr>
          <p:cNvSpPr>
            <a:spLocks noGrp="1"/>
          </p:cNvSpPr>
          <p:nvPr>
            <p:ph type="dt" sz="half" idx="10"/>
          </p:nvPr>
        </p:nvSpPr>
        <p:spPr/>
        <p:txBody>
          <a:bodyPr/>
          <a:lstStyle/>
          <a:p>
            <a:fld id="{84C3D129-1DB0-4859-8899-7FBC6E98485D}" type="datetimeFigureOut">
              <a:rPr lang="zh-CN" altLang="en-US" smtClean="0"/>
              <a:t>2024/7/17</a:t>
            </a:fld>
            <a:endParaRPr lang="zh-CN" altLang="en-US"/>
          </a:p>
        </p:txBody>
      </p:sp>
      <p:sp>
        <p:nvSpPr>
          <p:cNvPr id="5" name="Footer Placeholder 4">
            <a:extLst>
              <a:ext uri="{FF2B5EF4-FFF2-40B4-BE49-F238E27FC236}">
                <a16:creationId xmlns:a16="http://schemas.microsoft.com/office/drawing/2014/main" id="{51CCC730-BD44-580C-8394-AC844709CB29}"/>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BABC47C1-98F4-3A14-F8DE-FF72E94D6A74}"/>
              </a:ext>
            </a:extLst>
          </p:cNvPr>
          <p:cNvSpPr>
            <a:spLocks noGrp="1"/>
          </p:cNvSpPr>
          <p:nvPr>
            <p:ph type="sldNum" sz="quarter" idx="12"/>
          </p:nvPr>
        </p:nvSpPr>
        <p:spPr/>
        <p:txBody>
          <a:bodyPr/>
          <a:lstStyle/>
          <a:p>
            <a:fld id="{59919D7D-E87E-4B6C-9BE3-1DD631B9C935}" type="slidenum">
              <a:rPr lang="zh-CN" altLang="en-US" smtClean="0"/>
              <a:t>‹#›</a:t>
            </a:fld>
            <a:endParaRPr lang="zh-CN" altLang="en-US"/>
          </a:p>
        </p:txBody>
      </p:sp>
    </p:spTree>
    <p:extLst>
      <p:ext uri="{BB962C8B-B14F-4D97-AF65-F5344CB8AC3E}">
        <p14:creationId xmlns:p14="http://schemas.microsoft.com/office/powerpoint/2010/main" val="273255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2AAE2-4250-B5C4-E364-0C25DA6A96C4}"/>
              </a:ext>
            </a:extLst>
          </p:cNvPr>
          <p:cNvSpPr>
            <a:spLocks noGrp="1"/>
          </p:cNvSpPr>
          <p:nvPr>
            <p:ph type="title"/>
          </p:nvPr>
        </p:nvSpPr>
        <p:spPr/>
        <p:txBody>
          <a:bodyPr/>
          <a:lstStyle>
            <a:lvl1pPr>
              <a:defRPr>
                <a:latin typeface="Georgia" panose="02040502050405020303" pitchFamily="18" charset="0"/>
              </a:defRPr>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DB4D4488-A71F-A0BF-26E7-8118D25654CE}"/>
              </a:ext>
            </a:extLst>
          </p:cNvPr>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EA1C2D74-4F8D-B2DE-3614-39C52FF33C42}"/>
              </a:ext>
            </a:extLst>
          </p:cNvPr>
          <p:cNvSpPr>
            <a:spLocks noGrp="1"/>
          </p:cNvSpPr>
          <p:nvPr>
            <p:ph type="dt" sz="half" idx="10"/>
          </p:nvPr>
        </p:nvSpPr>
        <p:spPr/>
        <p:txBody>
          <a:bodyPr/>
          <a:lstStyle/>
          <a:p>
            <a:fld id="{84C3D129-1DB0-4859-8899-7FBC6E98485D}" type="datetimeFigureOut">
              <a:rPr lang="zh-CN" altLang="en-US" smtClean="0"/>
              <a:t>2024/7/17</a:t>
            </a:fld>
            <a:endParaRPr lang="zh-CN" altLang="en-US"/>
          </a:p>
        </p:txBody>
      </p:sp>
      <p:sp>
        <p:nvSpPr>
          <p:cNvPr id="5" name="Footer Placeholder 4">
            <a:extLst>
              <a:ext uri="{FF2B5EF4-FFF2-40B4-BE49-F238E27FC236}">
                <a16:creationId xmlns:a16="http://schemas.microsoft.com/office/drawing/2014/main" id="{7CD07DFB-58CB-2303-FAB8-ED8E0135D240}"/>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B31089C-C938-B629-31D0-ABA1140E5582}"/>
              </a:ext>
            </a:extLst>
          </p:cNvPr>
          <p:cNvSpPr>
            <a:spLocks noGrp="1"/>
          </p:cNvSpPr>
          <p:nvPr>
            <p:ph type="sldNum" sz="quarter" idx="12"/>
          </p:nvPr>
        </p:nvSpPr>
        <p:spPr/>
        <p:txBody>
          <a:bodyPr/>
          <a:lstStyle/>
          <a:p>
            <a:fld id="{59919D7D-E87E-4B6C-9BE3-1DD631B9C935}" type="slidenum">
              <a:rPr lang="zh-CN" altLang="en-US" smtClean="0"/>
              <a:t>‹#›</a:t>
            </a:fld>
            <a:endParaRPr lang="zh-CN" altLang="en-US"/>
          </a:p>
        </p:txBody>
      </p:sp>
    </p:spTree>
    <p:extLst>
      <p:ext uri="{BB962C8B-B14F-4D97-AF65-F5344CB8AC3E}">
        <p14:creationId xmlns:p14="http://schemas.microsoft.com/office/powerpoint/2010/main" val="64274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CF29-9AAD-5781-DA00-EE532868D062}"/>
              </a:ext>
            </a:extLst>
          </p:cNvPr>
          <p:cNvSpPr>
            <a:spLocks noGrp="1"/>
          </p:cNvSpPr>
          <p:nvPr>
            <p:ph type="title"/>
          </p:nvPr>
        </p:nvSpPr>
        <p:spPr>
          <a:xfrm>
            <a:off x="831850" y="1709738"/>
            <a:ext cx="10515600" cy="2852737"/>
          </a:xfrm>
        </p:spPr>
        <p:txBody>
          <a:bodyPr anchor="b"/>
          <a:lstStyle>
            <a:lvl1pPr>
              <a:defRPr sz="6000">
                <a:latin typeface="Georgia" panose="02040502050405020303" pitchFamily="18" charset="0"/>
              </a:defRPr>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B061DD27-D10C-EE7E-26E5-6CACC804FA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9F27DBED-3DDD-0C1F-22DA-CF0A67074AF1}"/>
              </a:ext>
            </a:extLst>
          </p:cNvPr>
          <p:cNvSpPr>
            <a:spLocks noGrp="1"/>
          </p:cNvSpPr>
          <p:nvPr>
            <p:ph type="dt" sz="half" idx="10"/>
          </p:nvPr>
        </p:nvSpPr>
        <p:spPr/>
        <p:txBody>
          <a:bodyPr/>
          <a:lstStyle/>
          <a:p>
            <a:fld id="{84C3D129-1DB0-4859-8899-7FBC6E98485D}" type="datetimeFigureOut">
              <a:rPr lang="zh-CN" altLang="en-US" smtClean="0"/>
              <a:t>2024/7/17</a:t>
            </a:fld>
            <a:endParaRPr lang="zh-CN" altLang="en-US"/>
          </a:p>
        </p:txBody>
      </p:sp>
      <p:sp>
        <p:nvSpPr>
          <p:cNvPr id="5" name="Footer Placeholder 4">
            <a:extLst>
              <a:ext uri="{FF2B5EF4-FFF2-40B4-BE49-F238E27FC236}">
                <a16:creationId xmlns:a16="http://schemas.microsoft.com/office/drawing/2014/main" id="{F98FC6D8-B657-1F29-E71E-46C412A71B81}"/>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DA951B12-3B11-8222-DDD1-82FAFBD3F381}"/>
              </a:ext>
            </a:extLst>
          </p:cNvPr>
          <p:cNvSpPr>
            <a:spLocks noGrp="1"/>
          </p:cNvSpPr>
          <p:nvPr>
            <p:ph type="sldNum" sz="quarter" idx="12"/>
          </p:nvPr>
        </p:nvSpPr>
        <p:spPr/>
        <p:txBody>
          <a:bodyPr/>
          <a:lstStyle/>
          <a:p>
            <a:fld id="{59919D7D-E87E-4B6C-9BE3-1DD631B9C935}" type="slidenum">
              <a:rPr lang="zh-CN" altLang="en-US" smtClean="0"/>
              <a:t>‹#›</a:t>
            </a:fld>
            <a:endParaRPr lang="zh-CN" altLang="en-US"/>
          </a:p>
        </p:txBody>
      </p:sp>
    </p:spTree>
    <p:extLst>
      <p:ext uri="{BB962C8B-B14F-4D97-AF65-F5344CB8AC3E}">
        <p14:creationId xmlns:p14="http://schemas.microsoft.com/office/powerpoint/2010/main" val="18849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75D68-A047-67C2-28D3-F1F6F7DFFF97}"/>
              </a:ext>
            </a:extLst>
          </p:cNvPr>
          <p:cNvSpPr>
            <a:spLocks noGrp="1"/>
          </p:cNvSpPr>
          <p:nvPr>
            <p:ph type="title"/>
          </p:nvPr>
        </p:nvSpPr>
        <p:spPr/>
        <p:txBody>
          <a:bodyPr/>
          <a:lstStyle>
            <a:lvl1pPr>
              <a:defRPr>
                <a:latin typeface="Georgia" panose="02040502050405020303" pitchFamily="18" charset="0"/>
              </a:defRPr>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16C79332-74A3-23BF-C9EF-67A4DCE2EA57}"/>
              </a:ext>
            </a:extLst>
          </p:cNvPr>
          <p:cNvSpPr>
            <a:spLocks noGrp="1"/>
          </p:cNvSpPr>
          <p:nvPr>
            <p:ph sz="half" idx="1"/>
          </p:nvPr>
        </p:nvSpPr>
        <p:spPr>
          <a:xfrm>
            <a:off x="838200" y="1560352"/>
            <a:ext cx="5181600" cy="4616611"/>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1C14C7E9-7CC4-1220-A902-A34D42E5D89D}"/>
              </a:ext>
            </a:extLst>
          </p:cNvPr>
          <p:cNvSpPr>
            <a:spLocks noGrp="1"/>
          </p:cNvSpPr>
          <p:nvPr>
            <p:ph sz="half" idx="2"/>
          </p:nvPr>
        </p:nvSpPr>
        <p:spPr>
          <a:xfrm>
            <a:off x="6172200" y="1560352"/>
            <a:ext cx="5181600" cy="4616611"/>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AAA49BDD-B3D5-A9D8-3401-B5C95B677290}"/>
              </a:ext>
            </a:extLst>
          </p:cNvPr>
          <p:cNvSpPr>
            <a:spLocks noGrp="1"/>
          </p:cNvSpPr>
          <p:nvPr>
            <p:ph type="dt" sz="half" idx="10"/>
          </p:nvPr>
        </p:nvSpPr>
        <p:spPr/>
        <p:txBody>
          <a:bodyPr/>
          <a:lstStyle/>
          <a:p>
            <a:fld id="{84C3D129-1DB0-4859-8899-7FBC6E98485D}" type="datetimeFigureOut">
              <a:rPr lang="zh-CN" altLang="en-US" smtClean="0"/>
              <a:t>2024/7/17</a:t>
            </a:fld>
            <a:endParaRPr lang="zh-CN" altLang="en-US"/>
          </a:p>
        </p:txBody>
      </p:sp>
      <p:sp>
        <p:nvSpPr>
          <p:cNvPr id="6" name="Footer Placeholder 5">
            <a:extLst>
              <a:ext uri="{FF2B5EF4-FFF2-40B4-BE49-F238E27FC236}">
                <a16:creationId xmlns:a16="http://schemas.microsoft.com/office/drawing/2014/main" id="{8745E4EC-E32D-F1B5-B914-737995C05310}"/>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5E01B4B9-B5FE-9BE6-8E31-A61699C9F3B4}"/>
              </a:ext>
            </a:extLst>
          </p:cNvPr>
          <p:cNvSpPr>
            <a:spLocks noGrp="1"/>
          </p:cNvSpPr>
          <p:nvPr>
            <p:ph type="sldNum" sz="quarter" idx="12"/>
          </p:nvPr>
        </p:nvSpPr>
        <p:spPr/>
        <p:txBody>
          <a:bodyPr/>
          <a:lstStyle/>
          <a:p>
            <a:fld id="{59919D7D-E87E-4B6C-9BE3-1DD631B9C935}" type="slidenum">
              <a:rPr lang="zh-CN" altLang="en-US" smtClean="0"/>
              <a:t>‹#›</a:t>
            </a:fld>
            <a:endParaRPr lang="zh-CN" altLang="en-US"/>
          </a:p>
        </p:txBody>
      </p:sp>
    </p:spTree>
    <p:extLst>
      <p:ext uri="{BB962C8B-B14F-4D97-AF65-F5344CB8AC3E}">
        <p14:creationId xmlns:p14="http://schemas.microsoft.com/office/powerpoint/2010/main" val="4002243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27CF1-E38F-62E3-5FCE-B9061712012A}"/>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504CB33B-BDEF-90FA-0D27-FB18B35AD6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CC6AEC61-3F1A-830F-9BF9-DBB02FE105C7}"/>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AD049CCA-1C7D-9019-445A-C055DE0496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45F5B2E8-1A05-2A60-712D-86F9161C982B}"/>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BF481524-7E1B-5D5C-79D3-E316DFB0F7D0}"/>
              </a:ext>
            </a:extLst>
          </p:cNvPr>
          <p:cNvSpPr>
            <a:spLocks noGrp="1"/>
          </p:cNvSpPr>
          <p:nvPr>
            <p:ph type="dt" sz="half" idx="10"/>
          </p:nvPr>
        </p:nvSpPr>
        <p:spPr/>
        <p:txBody>
          <a:bodyPr/>
          <a:lstStyle/>
          <a:p>
            <a:fld id="{84C3D129-1DB0-4859-8899-7FBC6E98485D}" type="datetimeFigureOut">
              <a:rPr lang="zh-CN" altLang="en-US" smtClean="0"/>
              <a:t>2024/7/17</a:t>
            </a:fld>
            <a:endParaRPr lang="zh-CN" altLang="en-US"/>
          </a:p>
        </p:txBody>
      </p:sp>
      <p:sp>
        <p:nvSpPr>
          <p:cNvPr id="8" name="Footer Placeholder 7">
            <a:extLst>
              <a:ext uri="{FF2B5EF4-FFF2-40B4-BE49-F238E27FC236}">
                <a16:creationId xmlns:a16="http://schemas.microsoft.com/office/drawing/2014/main" id="{98C490DE-DC3C-EE96-68AE-A21233B32B5A}"/>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ED783BD4-F39B-6582-2745-EF7F7C489546}"/>
              </a:ext>
            </a:extLst>
          </p:cNvPr>
          <p:cNvSpPr>
            <a:spLocks noGrp="1"/>
          </p:cNvSpPr>
          <p:nvPr>
            <p:ph type="sldNum" sz="quarter" idx="12"/>
          </p:nvPr>
        </p:nvSpPr>
        <p:spPr/>
        <p:txBody>
          <a:bodyPr/>
          <a:lstStyle/>
          <a:p>
            <a:fld id="{59919D7D-E87E-4B6C-9BE3-1DD631B9C935}" type="slidenum">
              <a:rPr lang="zh-CN" altLang="en-US" smtClean="0"/>
              <a:t>‹#›</a:t>
            </a:fld>
            <a:endParaRPr lang="zh-CN" altLang="en-US"/>
          </a:p>
        </p:txBody>
      </p:sp>
    </p:spTree>
    <p:extLst>
      <p:ext uri="{BB962C8B-B14F-4D97-AF65-F5344CB8AC3E}">
        <p14:creationId xmlns:p14="http://schemas.microsoft.com/office/powerpoint/2010/main" val="4116338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407E4-09C0-F4A5-0E4B-ABB7A3194B52}"/>
              </a:ext>
            </a:extLst>
          </p:cNvPr>
          <p:cNvSpPr>
            <a:spLocks noGrp="1"/>
          </p:cNvSpPr>
          <p:nvPr>
            <p:ph type="title"/>
          </p:nvPr>
        </p:nvSpPr>
        <p:spPr/>
        <p:txBody>
          <a:bodyPr/>
          <a:lstStyle>
            <a:lvl1pPr>
              <a:defRPr>
                <a:latin typeface="Georgia" panose="02040502050405020303" pitchFamily="18" charset="0"/>
              </a:defRPr>
            </a:lvl1p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0264339E-9186-39D9-7E50-3AB8349143D8}"/>
              </a:ext>
            </a:extLst>
          </p:cNvPr>
          <p:cNvSpPr>
            <a:spLocks noGrp="1"/>
          </p:cNvSpPr>
          <p:nvPr>
            <p:ph type="dt" sz="half" idx="10"/>
          </p:nvPr>
        </p:nvSpPr>
        <p:spPr/>
        <p:txBody>
          <a:bodyPr/>
          <a:lstStyle/>
          <a:p>
            <a:fld id="{84C3D129-1DB0-4859-8899-7FBC6E98485D}" type="datetimeFigureOut">
              <a:rPr lang="zh-CN" altLang="en-US" smtClean="0"/>
              <a:t>2024/7/17</a:t>
            </a:fld>
            <a:endParaRPr lang="zh-CN" altLang="en-US"/>
          </a:p>
        </p:txBody>
      </p:sp>
      <p:sp>
        <p:nvSpPr>
          <p:cNvPr id="4" name="Footer Placeholder 3">
            <a:extLst>
              <a:ext uri="{FF2B5EF4-FFF2-40B4-BE49-F238E27FC236}">
                <a16:creationId xmlns:a16="http://schemas.microsoft.com/office/drawing/2014/main" id="{E829161B-07EC-CF4E-831A-EF86665ECFB5}"/>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035FD68D-B656-59C7-251A-9422CC1314A7}"/>
              </a:ext>
            </a:extLst>
          </p:cNvPr>
          <p:cNvSpPr>
            <a:spLocks noGrp="1"/>
          </p:cNvSpPr>
          <p:nvPr>
            <p:ph type="sldNum" sz="quarter" idx="12"/>
          </p:nvPr>
        </p:nvSpPr>
        <p:spPr/>
        <p:txBody>
          <a:bodyPr/>
          <a:lstStyle/>
          <a:p>
            <a:fld id="{59919D7D-E87E-4B6C-9BE3-1DD631B9C935}" type="slidenum">
              <a:rPr lang="zh-CN" altLang="en-US" smtClean="0"/>
              <a:t>‹#›</a:t>
            </a:fld>
            <a:endParaRPr lang="zh-CN" altLang="en-US"/>
          </a:p>
        </p:txBody>
      </p:sp>
    </p:spTree>
    <p:extLst>
      <p:ext uri="{BB962C8B-B14F-4D97-AF65-F5344CB8AC3E}">
        <p14:creationId xmlns:p14="http://schemas.microsoft.com/office/powerpoint/2010/main" val="1844005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245810-8EB3-F3A3-DE05-D0651763163C}"/>
              </a:ext>
            </a:extLst>
          </p:cNvPr>
          <p:cNvSpPr>
            <a:spLocks noGrp="1"/>
          </p:cNvSpPr>
          <p:nvPr>
            <p:ph type="dt" sz="half" idx="10"/>
          </p:nvPr>
        </p:nvSpPr>
        <p:spPr/>
        <p:txBody>
          <a:bodyPr/>
          <a:lstStyle/>
          <a:p>
            <a:fld id="{84C3D129-1DB0-4859-8899-7FBC6E98485D}" type="datetimeFigureOut">
              <a:rPr lang="zh-CN" altLang="en-US" smtClean="0"/>
              <a:t>2024/7/17</a:t>
            </a:fld>
            <a:endParaRPr lang="zh-CN" altLang="en-US"/>
          </a:p>
        </p:txBody>
      </p:sp>
      <p:sp>
        <p:nvSpPr>
          <p:cNvPr id="3" name="Footer Placeholder 2">
            <a:extLst>
              <a:ext uri="{FF2B5EF4-FFF2-40B4-BE49-F238E27FC236}">
                <a16:creationId xmlns:a16="http://schemas.microsoft.com/office/drawing/2014/main" id="{1612DBE9-ADDE-4B85-667E-0D4CFE46CFD6}"/>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C2FA55BA-CB33-5272-CBD9-BD25638C89B6}"/>
              </a:ext>
            </a:extLst>
          </p:cNvPr>
          <p:cNvSpPr>
            <a:spLocks noGrp="1"/>
          </p:cNvSpPr>
          <p:nvPr>
            <p:ph type="sldNum" sz="quarter" idx="12"/>
          </p:nvPr>
        </p:nvSpPr>
        <p:spPr/>
        <p:txBody>
          <a:bodyPr/>
          <a:lstStyle/>
          <a:p>
            <a:fld id="{59919D7D-E87E-4B6C-9BE3-1DD631B9C935}" type="slidenum">
              <a:rPr lang="zh-CN" altLang="en-US" smtClean="0"/>
              <a:t>‹#›</a:t>
            </a:fld>
            <a:endParaRPr lang="zh-CN" altLang="en-US"/>
          </a:p>
        </p:txBody>
      </p:sp>
    </p:spTree>
    <p:extLst>
      <p:ext uri="{BB962C8B-B14F-4D97-AF65-F5344CB8AC3E}">
        <p14:creationId xmlns:p14="http://schemas.microsoft.com/office/powerpoint/2010/main" val="3183481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D21EC-8402-8C50-B7E0-FC112F7630FB}"/>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FCF56DD7-9E02-3D8F-D1E9-E92FF05024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198802CF-D514-EEB8-22E8-695EFCC54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777E2B79-CB11-E591-FAB1-C8FDFB9DADF6}"/>
              </a:ext>
            </a:extLst>
          </p:cNvPr>
          <p:cNvSpPr>
            <a:spLocks noGrp="1"/>
          </p:cNvSpPr>
          <p:nvPr>
            <p:ph type="dt" sz="half" idx="10"/>
          </p:nvPr>
        </p:nvSpPr>
        <p:spPr/>
        <p:txBody>
          <a:bodyPr/>
          <a:lstStyle/>
          <a:p>
            <a:fld id="{84C3D129-1DB0-4859-8899-7FBC6E98485D}" type="datetimeFigureOut">
              <a:rPr lang="zh-CN" altLang="en-US" smtClean="0"/>
              <a:t>2024/7/17</a:t>
            </a:fld>
            <a:endParaRPr lang="zh-CN" altLang="en-US"/>
          </a:p>
        </p:txBody>
      </p:sp>
      <p:sp>
        <p:nvSpPr>
          <p:cNvPr id="6" name="Footer Placeholder 5">
            <a:extLst>
              <a:ext uri="{FF2B5EF4-FFF2-40B4-BE49-F238E27FC236}">
                <a16:creationId xmlns:a16="http://schemas.microsoft.com/office/drawing/2014/main" id="{10558CF0-D9C1-A248-8628-104E65BA2201}"/>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F1EAC361-CF06-3E1A-46F1-BE8ECA27F201}"/>
              </a:ext>
            </a:extLst>
          </p:cNvPr>
          <p:cNvSpPr>
            <a:spLocks noGrp="1"/>
          </p:cNvSpPr>
          <p:nvPr>
            <p:ph type="sldNum" sz="quarter" idx="12"/>
          </p:nvPr>
        </p:nvSpPr>
        <p:spPr/>
        <p:txBody>
          <a:bodyPr/>
          <a:lstStyle/>
          <a:p>
            <a:fld id="{59919D7D-E87E-4B6C-9BE3-1DD631B9C935}" type="slidenum">
              <a:rPr lang="zh-CN" altLang="en-US" smtClean="0"/>
              <a:t>‹#›</a:t>
            </a:fld>
            <a:endParaRPr lang="zh-CN" altLang="en-US"/>
          </a:p>
        </p:txBody>
      </p:sp>
    </p:spTree>
    <p:extLst>
      <p:ext uri="{BB962C8B-B14F-4D97-AF65-F5344CB8AC3E}">
        <p14:creationId xmlns:p14="http://schemas.microsoft.com/office/powerpoint/2010/main" val="2698086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726A7-E534-0350-2647-A13F66EF7CD8}"/>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6BCC4E51-997D-76A5-B448-60E351AAFE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6CC122C1-1FE7-0B09-7387-6B3C84673B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B8C91C9A-2C03-2413-CD87-B810D9ECAC76}"/>
              </a:ext>
            </a:extLst>
          </p:cNvPr>
          <p:cNvSpPr>
            <a:spLocks noGrp="1"/>
          </p:cNvSpPr>
          <p:nvPr>
            <p:ph type="dt" sz="half" idx="10"/>
          </p:nvPr>
        </p:nvSpPr>
        <p:spPr/>
        <p:txBody>
          <a:bodyPr/>
          <a:lstStyle/>
          <a:p>
            <a:fld id="{84C3D129-1DB0-4859-8899-7FBC6E98485D}" type="datetimeFigureOut">
              <a:rPr lang="zh-CN" altLang="en-US" smtClean="0"/>
              <a:t>2024/7/17</a:t>
            </a:fld>
            <a:endParaRPr lang="zh-CN" altLang="en-US"/>
          </a:p>
        </p:txBody>
      </p:sp>
      <p:sp>
        <p:nvSpPr>
          <p:cNvPr id="6" name="Footer Placeholder 5">
            <a:extLst>
              <a:ext uri="{FF2B5EF4-FFF2-40B4-BE49-F238E27FC236}">
                <a16:creationId xmlns:a16="http://schemas.microsoft.com/office/drawing/2014/main" id="{AFC31ACF-067C-8A78-1989-E55CEBB3047A}"/>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80B83CBA-7D68-F7E2-60A1-993EAC635452}"/>
              </a:ext>
            </a:extLst>
          </p:cNvPr>
          <p:cNvSpPr>
            <a:spLocks noGrp="1"/>
          </p:cNvSpPr>
          <p:nvPr>
            <p:ph type="sldNum" sz="quarter" idx="12"/>
          </p:nvPr>
        </p:nvSpPr>
        <p:spPr/>
        <p:txBody>
          <a:bodyPr/>
          <a:lstStyle/>
          <a:p>
            <a:fld id="{59919D7D-E87E-4B6C-9BE3-1DD631B9C935}" type="slidenum">
              <a:rPr lang="zh-CN" altLang="en-US" smtClean="0"/>
              <a:t>‹#›</a:t>
            </a:fld>
            <a:endParaRPr lang="zh-CN" altLang="en-US"/>
          </a:p>
        </p:txBody>
      </p:sp>
    </p:spTree>
    <p:extLst>
      <p:ext uri="{BB962C8B-B14F-4D97-AF65-F5344CB8AC3E}">
        <p14:creationId xmlns:p14="http://schemas.microsoft.com/office/powerpoint/2010/main" val="1424705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9987A-8A41-5FEA-71CB-7FF800152E8D}"/>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E50CB7C3-1931-435B-7D57-85EB8A85064E}"/>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3737B37A-7443-34EA-C673-2580126F1D59}"/>
              </a:ext>
            </a:extLst>
          </p:cNvPr>
          <p:cNvSpPr>
            <a:spLocks noGrp="1"/>
          </p:cNvSpPr>
          <p:nvPr>
            <p:ph type="dt" sz="half" idx="10"/>
          </p:nvPr>
        </p:nvSpPr>
        <p:spPr/>
        <p:txBody>
          <a:bodyPr/>
          <a:lstStyle/>
          <a:p>
            <a:fld id="{84C3D129-1DB0-4859-8899-7FBC6E98485D}" type="datetimeFigureOut">
              <a:rPr lang="zh-CN" altLang="en-US" smtClean="0"/>
              <a:t>2024/7/17</a:t>
            </a:fld>
            <a:endParaRPr lang="zh-CN" altLang="en-US"/>
          </a:p>
        </p:txBody>
      </p:sp>
      <p:sp>
        <p:nvSpPr>
          <p:cNvPr id="5" name="Footer Placeholder 4">
            <a:extLst>
              <a:ext uri="{FF2B5EF4-FFF2-40B4-BE49-F238E27FC236}">
                <a16:creationId xmlns:a16="http://schemas.microsoft.com/office/drawing/2014/main" id="{421AF0E8-1E50-0DEE-D512-90B97C6D51C6}"/>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76A5E91A-871A-A629-D32B-FFA8D43FAE6F}"/>
              </a:ext>
            </a:extLst>
          </p:cNvPr>
          <p:cNvSpPr>
            <a:spLocks noGrp="1"/>
          </p:cNvSpPr>
          <p:nvPr>
            <p:ph type="sldNum" sz="quarter" idx="12"/>
          </p:nvPr>
        </p:nvSpPr>
        <p:spPr/>
        <p:txBody>
          <a:bodyPr/>
          <a:lstStyle/>
          <a:p>
            <a:fld id="{59919D7D-E87E-4B6C-9BE3-1DD631B9C935}" type="slidenum">
              <a:rPr lang="zh-CN" altLang="en-US" smtClean="0"/>
              <a:t>‹#›</a:t>
            </a:fld>
            <a:endParaRPr lang="zh-CN" altLang="en-US"/>
          </a:p>
        </p:txBody>
      </p:sp>
    </p:spTree>
    <p:extLst>
      <p:ext uri="{BB962C8B-B14F-4D97-AF65-F5344CB8AC3E}">
        <p14:creationId xmlns:p14="http://schemas.microsoft.com/office/powerpoint/2010/main" val="2581417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20480C-177C-A673-2A35-FDCA91F1D9CB}"/>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DAC69C5D-3599-223B-5861-863C9E16DD1E}"/>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CC4A35FD-0ABC-3308-3118-DC3B5064DED4}"/>
              </a:ext>
            </a:extLst>
          </p:cNvPr>
          <p:cNvSpPr>
            <a:spLocks noGrp="1"/>
          </p:cNvSpPr>
          <p:nvPr>
            <p:ph type="dt" sz="half" idx="10"/>
          </p:nvPr>
        </p:nvSpPr>
        <p:spPr/>
        <p:txBody>
          <a:bodyPr/>
          <a:lstStyle/>
          <a:p>
            <a:fld id="{84C3D129-1DB0-4859-8899-7FBC6E98485D}" type="datetimeFigureOut">
              <a:rPr lang="zh-CN" altLang="en-US" smtClean="0"/>
              <a:t>2024/7/17</a:t>
            </a:fld>
            <a:endParaRPr lang="zh-CN" altLang="en-US"/>
          </a:p>
        </p:txBody>
      </p:sp>
      <p:sp>
        <p:nvSpPr>
          <p:cNvPr id="5" name="Footer Placeholder 4">
            <a:extLst>
              <a:ext uri="{FF2B5EF4-FFF2-40B4-BE49-F238E27FC236}">
                <a16:creationId xmlns:a16="http://schemas.microsoft.com/office/drawing/2014/main" id="{72F5B477-024F-2C51-3DA3-996D2B7A3698}"/>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45976C39-BC21-C8B1-AE55-0DBCBD09A78E}"/>
              </a:ext>
            </a:extLst>
          </p:cNvPr>
          <p:cNvSpPr>
            <a:spLocks noGrp="1"/>
          </p:cNvSpPr>
          <p:nvPr>
            <p:ph type="sldNum" sz="quarter" idx="12"/>
          </p:nvPr>
        </p:nvSpPr>
        <p:spPr/>
        <p:txBody>
          <a:bodyPr/>
          <a:lstStyle/>
          <a:p>
            <a:fld id="{59919D7D-E87E-4B6C-9BE3-1DD631B9C935}" type="slidenum">
              <a:rPr lang="zh-CN" altLang="en-US" smtClean="0"/>
              <a:t>‹#›</a:t>
            </a:fld>
            <a:endParaRPr lang="zh-CN" altLang="en-US"/>
          </a:p>
        </p:txBody>
      </p:sp>
    </p:spTree>
    <p:extLst>
      <p:ext uri="{BB962C8B-B14F-4D97-AF65-F5344CB8AC3E}">
        <p14:creationId xmlns:p14="http://schemas.microsoft.com/office/powerpoint/2010/main" val="445298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A2047B-EF4D-07D6-65C7-09D10E6447BC}"/>
              </a:ext>
            </a:extLst>
          </p:cNvPr>
          <p:cNvSpPr>
            <a:spLocks noGrp="1"/>
          </p:cNvSpPr>
          <p:nvPr>
            <p:ph type="title"/>
          </p:nvPr>
        </p:nvSpPr>
        <p:spPr>
          <a:xfrm>
            <a:off x="838200" y="365125"/>
            <a:ext cx="10515600" cy="1010669"/>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C8117E6D-5E3D-CC29-5F04-E40927B29EF7}"/>
              </a:ext>
            </a:extLst>
          </p:cNvPr>
          <p:cNvSpPr>
            <a:spLocks noGrp="1"/>
          </p:cNvSpPr>
          <p:nvPr>
            <p:ph type="body" idx="1"/>
          </p:nvPr>
        </p:nvSpPr>
        <p:spPr>
          <a:xfrm>
            <a:off x="838200" y="1551963"/>
            <a:ext cx="10515600" cy="4625000"/>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D8BF28D8-88A5-AEF0-2573-BA220E80E9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C3D129-1DB0-4859-8899-7FBC6E98485D}" type="datetimeFigureOut">
              <a:rPr lang="zh-CN" altLang="en-US" smtClean="0"/>
              <a:t>2024/7/17</a:t>
            </a:fld>
            <a:endParaRPr lang="zh-CN" altLang="en-US"/>
          </a:p>
        </p:txBody>
      </p:sp>
      <p:sp>
        <p:nvSpPr>
          <p:cNvPr id="5" name="Footer Placeholder 4">
            <a:extLst>
              <a:ext uri="{FF2B5EF4-FFF2-40B4-BE49-F238E27FC236}">
                <a16:creationId xmlns:a16="http://schemas.microsoft.com/office/drawing/2014/main" id="{16F56649-ECC8-3A5B-7EAD-A2D0D05CAD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F019F323-E9E7-C281-0153-FDD0671256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919D7D-E87E-4B6C-9BE3-1DD631B9C935}" type="slidenum">
              <a:rPr lang="zh-CN" altLang="en-US" smtClean="0"/>
              <a:t>‹#›</a:t>
            </a:fld>
            <a:endParaRPr lang="zh-CN" altLang="en-US"/>
          </a:p>
        </p:txBody>
      </p:sp>
      <p:pic>
        <p:nvPicPr>
          <p:cNvPr id="8" name="Picture 7">
            <a:extLst>
              <a:ext uri="{FF2B5EF4-FFF2-40B4-BE49-F238E27FC236}">
                <a16:creationId xmlns:a16="http://schemas.microsoft.com/office/drawing/2014/main" id="{C6A22A75-58CE-8CC7-142C-029C586BAEF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365609" y="6152921"/>
            <a:ext cx="1988191" cy="425941"/>
          </a:xfrm>
          <a:prstGeom prst="rect">
            <a:avLst/>
          </a:prstGeom>
        </p:spPr>
      </p:pic>
    </p:spTree>
    <p:extLst>
      <p:ext uri="{BB962C8B-B14F-4D97-AF65-F5344CB8AC3E}">
        <p14:creationId xmlns:p14="http://schemas.microsoft.com/office/powerpoint/2010/main" val="823794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arxiv.org/abs/2006.10742" TargetMode="Externa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arxiv.org/abs/2006.10742"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1283-3A03-DA43-6092-89E7841D1059}"/>
              </a:ext>
            </a:extLst>
          </p:cNvPr>
          <p:cNvSpPr>
            <a:spLocks noGrp="1"/>
          </p:cNvSpPr>
          <p:nvPr>
            <p:ph type="title"/>
          </p:nvPr>
        </p:nvSpPr>
        <p:spPr>
          <a:xfrm>
            <a:off x="819150" y="620497"/>
            <a:ext cx="10515600" cy="2852737"/>
          </a:xfrm>
        </p:spPr>
        <p:txBody>
          <a:bodyPr>
            <a:normAutofit/>
          </a:bodyPr>
          <a:lstStyle/>
          <a:p>
            <a:pPr algn="ctr"/>
            <a:r>
              <a:rPr lang="en-US" altLang="zh-CN" sz="4400"/>
              <a:t>SMuCo: Reinforcement Learning for Visual Control via Sequential Multi-view Total Correlation</a:t>
            </a:r>
            <a:endParaRPr lang="zh-CN" altLang="en-US" sz="4400"/>
          </a:p>
        </p:txBody>
      </p:sp>
      <p:sp>
        <p:nvSpPr>
          <p:cNvPr id="10" name="Text Placeholder 3">
            <a:extLst>
              <a:ext uri="{FF2B5EF4-FFF2-40B4-BE49-F238E27FC236}">
                <a16:creationId xmlns:a16="http://schemas.microsoft.com/office/drawing/2014/main" id="{2BC6FB9C-41E4-5BFD-2313-CCEAF387ABA4}"/>
              </a:ext>
            </a:extLst>
          </p:cNvPr>
          <p:cNvSpPr>
            <a:spLocks noGrp="1"/>
          </p:cNvSpPr>
          <p:nvPr>
            <p:ph type="body" idx="1"/>
          </p:nvPr>
        </p:nvSpPr>
        <p:spPr>
          <a:xfrm>
            <a:off x="819150" y="3794561"/>
            <a:ext cx="10515600" cy="867086"/>
          </a:xfrm>
        </p:spPr>
        <p:txBody>
          <a:bodyPr>
            <a:normAutofit/>
          </a:bodyPr>
          <a:lstStyle/>
          <a:p>
            <a:pPr algn="ctr"/>
            <a:r>
              <a:rPr lang="en-SG" sz="1800" b="1" i="0">
                <a:effectLst/>
                <a:highlight>
                  <a:srgbClr val="FFFFFF"/>
                </a:highlight>
                <a:latin typeface="Arial" panose="020B0604020202020204" pitchFamily="34" charset="0"/>
                <a:cs typeface="Arial" panose="020B0604020202020204" pitchFamily="34" charset="0"/>
              </a:rPr>
              <a:t>Tong Cheng</a:t>
            </a:r>
            <a:r>
              <a:rPr lang="en-SG" sz="1800" b="1" baseline="30000">
                <a:highlight>
                  <a:srgbClr val="FFFFFF"/>
                </a:highlight>
                <a:latin typeface="Arial" panose="020B0604020202020204" pitchFamily="34" charset="0"/>
                <a:cs typeface="Arial" panose="020B0604020202020204" pitchFamily="34" charset="0"/>
              </a:rPr>
              <a:t>1</a:t>
            </a:r>
            <a:r>
              <a:rPr lang="en-SG" sz="1800" b="0" i="0">
                <a:effectLst/>
                <a:highlight>
                  <a:srgbClr val="FFFFFF"/>
                </a:highlight>
                <a:latin typeface="Arial" panose="020B0604020202020204" pitchFamily="34" charset="0"/>
                <a:cs typeface="Arial" panose="020B0604020202020204" pitchFamily="34" charset="0"/>
              </a:rPr>
              <a:t>, Hang Dong</a:t>
            </a:r>
            <a:r>
              <a:rPr lang="en-SG" sz="1800" b="0" i="0" baseline="30000">
                <a:effectLst/>
                <a:highlight>
                  <a:srgbClr val="FFFFFF"/>
                </a:highlight>
                <a:latin typeface="Arial" panose="020B0604020202020204" pitchFamily="34" charset="0"/>
                <a:cs typeface="Arial" panose="020B0604020202020204" pitchFamily="34" charset="0"/>
              </a:rPr>
              <a:t>2</a:t>
            </a:r>
            <a:r>
              <a:rPr lang="en-SG" sz="1800" b="0" i="0">
                <a:effectLst/>
                <a:highlight>
                  <a:srgbClr val="FFFFFF"/>
                </a:highlight>
                <a:latin typeface="Arial" panose="020B0604020202020204" pitchFamily="34" charset="0"/>
                <a:cs typeface="Arial" panose="020B0604020202020204" pitchFamily="34" charset="0"/>
              </a:rPr>
              <a:t>, Lu Wang</a:t>
            </a:r>
            <a:r>
              <a:rPr lang="en-SG" sz="1800" b="0" i="0" baseline="30000">
                <a:effectLst/>
                <a:highlight>
                  <a:srgbClr val="FFFFFF"/>
                </a:highlight>
                <a:latin typeface="Arial" panose="020B0604020202020204" pitchFamily="34" charset="0"/>
                <a:cs typeface="Arial" panose="020B0604020202020204" pitchFamily="34" charset="0"/>
              </a:rPr>
              <a:t>2</a:t>
            </a:r>
            <a:r>
              <a:rPr lang="en-SG" sz="1800" b="0" i="0">
                <a:effectLst/>
                <a:highlight>
                  <a:srgbClr val="FFFFFF"/>
                </a:highlight>
                <a:latin typeface="Arial" panose="020B0604020202020204" pitchFamily="34" charset="0"/>
                <a:cs typeface="Arial" panose="020B0604020202020204" pitchFamily="34" charset="0"/>
              </a:rPr>
              <a:t>, Bo Qiao</a:t>
            </a:r>
            <a:r>
              <a:rPr lang="en-SG" sz="1800" b="0" i="0" baseline="30000">
                <a:effectLst/>
                <a:highlight>
                  <a:srgbClr val="FFFFFF"/>
                </a:highlight>
                <a:latin typeface="Arial" panose="020B0604020202020204" pitchFamily="34" charset="0"/>
                <a:cs typeface="Arial" panose="020B0604020202020204" pitchFamily="34" charset="0"/>
              </a:rPr>
              <a:t>2</a:t>
            </a:r>
            <a:r>
              <a:rPr lang="en-SG" sz="1800" b="0" i="0">
                <a:effectLst/>
                <a:highlight>
                  <a:srgbClr val="FFFFFF"/>
                </a:highlight>
                <a:latin typeface="Arial" panose="020B0604020202020204" pitchFamily="34" charset="0"/>
                <a:cs typeface="Arial" panose="020B0604020202020204" pitchFamily="34" charset="0"/>
              </a:rPr>
              <a:t>, Qingwei Lin</a:t>
            </a:r>
            <a:r>
              <a:rPr lang="en-SG" sz="1800" b="0" i="0" baseline="30000">
                <a:effectLst/>
                <a:highlight>
                  <a:srgbClr val="FFFFFF"/>
                </a:highlight>
                <a:latin typeface="Arial" panose="020B0604020202020204" pitchFamily="34" charset="0"/>
                <a:cs typeface="Arial" panose="020B0604020202020204" pitchFamily="34" charset="0"/>
              </a:rPr>
              <a:t>2</a:t>
            </a:r>
            <a:r>
              <a:rPr lang="en-SG" sz="1800">
                <a:highlight>
                  <a:srgbClr val="FFFFFF"/>
                </a:highlight>
                <a:latin typeface="Arial" panose="020B0604020202020204" pitchFamily="34" charset="0"/>
                <a:cs typeface="Arial" panose="020B0604020202020204" pitchFamily="34" charset="0"/>
              </a:rPr>
              <a:t>, </a:t>
            </a:r>
            <a:r>
              <a:rPr lang="en-SG" sz="1800" b="0" i="0">
                <a:effectLst/>
                <a:highlight>
                  <a:srgbClr val="FFFFFF"/>
                </a:highlight>
                <a:latin typeface="Arial" panose="020B0604020202020204" pitchFamily="34" charset="0"/>
                <a:cs typeface="Arial" panose="020B0604020202020204" pitchFamily="34" charset="0"/>
              </a:rPr>
              <a:t>Saravan Rajmohan</a:t>
            </a:r>
            <a:r>
              <a:rPr lang="en-SG" sz="1800" b="0" i="0" baseline="30000">
                <a:effectLst/>
                <a:highlight>
                  <a:srgbClr val="FFFFFF"/>
                </a:highlight>
                <a:latin typeface="Arial" panose="020B0604020202020204" pitchFamily="34" charset="0"/>
                <a:cs typeface="Arial" panose="020B0604020202020204" pitchFamily="34" charset="0"/>
              </a:rPr>
              <a:t>3</a:t>
            </a:r>
            <a:r>
              <a:rPr lang="en-SG" sz="1800">
                <a:highlight>
                  <a:srgbClr val="FFFFFF"/>
                </a:highlight>
                <a:latin typeface="Arial" panose="020B0604020202020204" pitchFamily="34" charset="0"/>
                <a:cs typeface="Arial" panose="020B0604020202020204" pitchFamily="34" charset="0"/>
              </a:rPr>
              <a:t>, </a:t>
            </a:r>
            <a:r>
              <a:rPr lang="en-SG" sz="1800" b="0" i="0">
                <a:effectLst/>
                <a:highlight>
                  <a:srgbClr val="FFFFFF"/>
                </a:highlight>
                <a:latin typeface="Arial" panose="020B0604020202020204" pitchFamily="34" charset="0"/>
                <a:cs typeface="Arial" panose="020B0604020202020204" pitchFamily="34" charset="0"/>
              </a:rPr>
              <a:t>Thomas Moscibroda</a:t>
            </a:r>
            <a:r>
              <a:rPr lang="en-SG" sz="1800" baseline="30000">
                <a:highlight>
                  <a:srgbClr val="FFFFFF"/>
                </a:highlight>
                <a:latin typeface="Arial" panose="020B0604020202020204" pitchFamily="34" charset="0"/>
                <a:cs typeface="Arial" panose="020B0604020202020204" pitchFamily="34" charset="0"/>
              </a:rPr>
              <a:t>4</a:t>
            </a:r>
            <a:endParaRPr lang="zh-CN" altLang="en-US" sz="2000"/>
          </a:p>
        </p:txBody>
      </p:sp>
      <p:sp>
        <p:nvSpPr>
          <p:cNvPr id="11" name="Text Placeholder 3">
            <a:extLst>
              <a:ext uri="{FF2B5EF4-FFF2-40B4-BE49-F238E27FC236}">
                <a16:creationId xmlns:a16="http://schemas.microsoft.com/office/drawing/2014/main" id="{FFE5A201-22D9-5DBC-E1DF-4E2F3A68C09A}"/>
              </a:ext>
            </a:extLst>
          </p:cNvPr>
          <p:cNvSpPr txBox="1">
            <a:spLocks/>
          </p:cNvSpPr>
          <p:nvPr/>
        </p:nvSpPr>
        <p:spPr>
          <a:xfrm>
            <a:off x="819150" y="4342464"/>
            <a:ext cx="10515600" cy="137371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SG" sz="1800" b="0" i="0">
                <a:effectLst/>
                <a:highlight>
                  <a:srgbClr val="FFFFFF"/>
                </a:highlight>
                <a:latin typeface="Arial" panose="020B0604020202020204" pitchFamily="34" charset="0"/>
                <a:cs typeface="Arial" panose="020B0604020202020204" pitchFamily="34" charset="0"/>
              </a:rPr>
              <a:t>Nanyang Technological University</a:t>
            </a:r>
            <a:r>
              <a:rPr lang="en-SG" sz="1800" baseline="30000">
                <a:highlight>
                  <a:srgbClr val="FFFFFF"/>
                </a:highlight>
                <a:latin typeface="Arial" panose="020B0604020202020204" pitchFamily="34" charset="0"/>
                <a:cs typeface="Arial" panose="020B0604020202020204" pitchFamily="34" charset="0"/>
              </a:rPr>
              <a:t>1</a:t>
            </a:r>
            <a:r>
              <a:rPr lang="en-SG" sz="1800" b="0" i="0">
                <a:effectLst/>
                <a:highlight>
                  <a:srgbClr val="FFFFFF"/>
                </a:highlight>
                <a:latin typeface="Arial" panose="020B0604020202020204" pitchFamily="34" charset="0"/>
                <a:cs typeface="Arial" panose="020B0604020202020204" pitchFamily="34" charset="0"/>
              </a:rPr>
              <a:t>, Microsoft AI</a:t>
            </a:r>
            <a:r>
              <a:rPr lang="en-SG" sz="1800" b="0" i="0" baseline="30000">
                <a:effectLst/>
                <a:highlight>
                  <a:srgbClr val="FFFFFF"/>
                </a:highlight>
                <a:latin typeface="Arial" panose="020B0604020202020204" pitchFamily="34" charset="0"/>
                <a:cs typeface="Arial" panose="020B0604020202020204" pitchFamily="34" charset="0"/>
              </a:rPr>
              <a:t>2</a:t>
            </a:r>
            <a:r>
              <a:rPr lang="en-SG" sz="1800" b="0" i="0">
                <a:effectLst/>
                <a:highlight>
                  <a:srgbClr val="FFFFFF"/>
                </a:highlight>
                <a:latin typeface="Arial" panose="020B0604020202020204" pitchFamily="34" charset="0"/>
                <a:cs typeface="Arial" panose="020B0604020202020204" pitchFamily="34" charset="0"/>
              </a:rPr>
              <a:t>, Microsoft 365</a:t>
            </a:r>
            <a:r>
              <a:rPr lang="en-SG" sz="1800" b="0" i="0" baseline="30000">
                <a:effectLst/>
                <a:highlight>
                  <a:srgbClr val="FFFFFF"/>
                </a:highlight>
                <a:latin typeface="Arial" panose="020B0604020202020204" pitchFamily="34" charset="0"/>
                <a:cs typeface="Arial" panose="020B0604020202020204" pitchFamily="34" charset="0"/>
              </a:rPr>
              <a:t>3</a:t>
            </a:r>
            <a:r>
              <a:rPr lang="en-SG" sz="1800" b="0" i="0">
                <a:effectLst/>
                <a:highlight>
                  <a:srgbClr val="FFFFFF"/>
                </a:highlight>
                <a:latin typeface="Arial" panose="020B0604020202020204" pitchFamily="34" charset="0"/>
                <a:cs typeface="Arial" panose="020B0604020202020204" pitchFamily="34" charset="0"/>
              </a:rPr>
              <a:t>, Microsoft Azure</a:t>
            </a:r>
            <a:r>
              <a:rPr lang="en-SG" sz="1800" b="0" i="0" baseline="30000">
                <a:effectLst/>
                <a:highlight>
                  <a:srgbClr val="FFFFFF"/>
                </a:highlight>
                <a:latin typeface="Arial" panose="020B0604020202020204" pitchFamily="34" charset="0"/>
                <a:cs typeface="Arial" panose="020B0604020202020204" pitchFamily="34" charset="0"/>
              </a:rPr>
              <a:t>4</a:t>
            </a:r>
            <a:endParaRPr lang="en-SG" sz="1800">
              <a:latin typeface="Arial" panose="020B0604020202020204" pitchFamily="34" charset="0"/>
              <a:cs typeface="Arial" panose="020B0604020202020204" pitchFamily="34" charset="0"/>
            </a:endParaRPr>
          </a:p>
        </p:txBody>
      </p:sp>
      <p:pic>
        <p:nvPicPr>
          <p:cNvPr id="13" name="Picture 12" descr="A black background with blue text&#10;&#10;Description automatically generated">
            <a:extLst>
              <a:ext uri="{FF2B5EF4-FFF2-40B4-BE49-F238E27FC236}">
                <a16:creationId xmlns:a16="http://schemas.microsoft.com/office/drawing/2014/main" id="{C9032E4D-6400-C1F6-3493-E6A8115C00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150" y="5963461"/>
            <a:ext cx="1674342" cy="601247"/>
          </a:xfrm>
          <a:prstGeom prst="rect">
            <a:avLst/>
          </a:prstGeom>
        </p:spPr>
      </p:pic>
    </p:spTree>
    <p:extLst>
      <p:ext uri="{BB962C8B-B14F-4D97-AF65-F5344CB8AC3E}">
        <p14:creationId xmlns:p14="http://schemas.microsoft.com/office/powerpoint/2010/main" val="2324930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5AC571-6942-99AB-F901-E87BF02D11E6}"/>
              </a:ext>
            </a:extLst>
          </p:cNvPr>
          <p:cNvSpPr>
            <a:spLocks noGrp="1"/>
          </p:cNvSpPr>
          <p:nvPr>
            <p:ph type="title"/>
          </p:nvPr>
        </p:nvSpPr>
        <p:spPr/>
        <p:txBody>
          <a:bodyPr/>
          <a:lstStyle/>
          <a:p>
            <a:r>
              <a:rPr lang="en-US"/>
              <a:t>Preliminary</a:t>
            </a:r>
            <a:endParaRPr lang="en-US" dirty="0"/>
          </a:p>
        </p:txBody>
      </p:sp>
      <p:pic>
        <p:nvPicPr>
          <p:cNvPr id="7" name="Picture 6">
            <a:extLst>
              <a:ext uri="{FF2B5EF4-FFF2-40B4-BE49-F238E27FC236}">
                <a16:creationId xmlns:a16="http://schemas.microsoft.com/office/drawing/2014/main" id="{03227942-D316-2619-11CF-B6A39B201316}"/>
              </a:ext>
            </a:extLst>
          </p:cNvPr>
          <p:cNvPicPr>
            <a:picLocks noChangeAspect="1"/>
          </p:cNvPicPr>
          <p:nvPr/>
        </p:nvPicPr>
        <p:blipFill>
          <a:blip r:embed="rId2"/>
          <a:stretch>
            <a:fillRect/>
          </a:stretch>
        </p:blipFill>
        <p:spPr>
          <a:xfrm>
            <a:off x="761675" y="1409883"/>
            <a:ext cx="5658849" cy="2050377"/>
          </a:xfrm>
          <a:prstGeom prst="rect">
            <a:avLst/>
          </a:prstGeom>
        </p:spPr>
      </p:pic>
      <p:pic>
        <p:nvPicPr>
          <p:cNvPr id="9" name="Picture 8">
            <a:extLst>
              <a:ext uri="{FF2B5EF4-FFF2-40B4-BE49-F238E27FC236}">
                <a16:creationId xmlns:a16="http://schemas.microsoft.com/office/drawing/2014/main" id="{C00E40BB-CC01-4754-090E-7C8300A92DC2}"/>
              </a:ext>
            </a:extLst>
          </p:cNvPr>
          <p:cNvPicPr>
            <a:picLocks noChangeAspect="1"/>
          </p:cNvPicPr>
          <p:nvPr/>
        </p:nvPicPr>
        <p:blipFill>
          <a:blip r:embed="rId3"/>
          <a:stretch>
            <a:fillRect/>
          </a:stretch>
        </p:blipFill>
        <p:spPr>
          <a:xfrm>
            <a:off x="6596786" y="1375794"/>
            <a:ext cx="5212259" cy="3401877"/>
          </a:xfrm>
          <a:prstGeom prst="rect">
            <a:avLst/>
          </a:prstGeom>
        </p:spPr>
      </p:pic>
      <p:pic>
        <p:nvPicPr>
          <p:cNvPr id="11" name="Picture 10">
            <a:extLst>
              <a:ext uri="{FF2B5EF4-FFF2-40B4-BE49-F238E27FC236}">
                <a16:creationId xmlns:a16="http://schemas.microsoft.com/office/drawing/2014/main" id="{F7C15422-A1BD-2C7A-3FE6-DDC0A6C7CDFA}"/>
              </a:ext>
            </a:extLst>
          </p:cNvPr>
          <p:cNvPicPr>
            <a:picLocks noChangeAspect="1"/>
          </p:cNvPicPr>
          <p:nvPr/>
        </p:nvPicPr>
        <p:blipFill>
          <a:blip r:embed="rId4"/>
          <a:stretch>
            <a:fillRect/>
          </a:stretch>
        </p:blipFill>
        <p:spPr>
          <a:xfrm>
            <a:off x="1639828" y="3494349"/>
            <a:ext cx="3380322" cy="2946115"/>
          </a:xfrm>
          <a:prstGeom prst="rect">
            <a:avLst/>
          </a:prstGeom>
        </p:spPr>
      </p:pic>
    </p:spTree>
    <p:extLst>
      <p:ext uri="{BB962C8B-B14F-4D97-AF65-F5344CB8AC3E}">
        <p14:creationId xmlns:p14="http://schemas.microsoft.com/office/powerpoint/2010/main" val="2553349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92B345-2BF2-9358-51D7-5A7E4865C3A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Visual Control Problem</a:t>
            </a:r>
          </a:p>
        </p:txBody>
      </p:sp>
      <p:pic>
        <p:nvPicPr>
          <p:cNvPr id="5" name="Content Placeholder 4">
            <a:extLst>
              <a:ext uri="{FF2B5EF4-FFF2-40B4-BE49-F238E27FC236}">
                <a16:creationId xmlns:a16="http://schemas.microsoft.com/office/drawing/2014/main" id="{889B47E5-6298-35F2-C43E-433D56E0E3F9}"/>
              </a:ext>
            </a:extLst>
          </p:cNvPr>
          <p:cNvPicPr>
            <a:picLocks noGrp="1" noChangeAspect="1"/>
          </p:cNvPicPr>
          <p:nvPr>
            <p:ph idx="1"/>
          </p:nvPr>
        </p:nvPicPr>
        <p:blipFill>
          <a:blip r:embed="rId2"/>
          <a:stretch>
            <a:fillRect/>
          </a:stretch>
        </p:blipFill>
        <p:spPr>
          <a:xfrm>
            <a:off x="4502428" y="1532241"/>
            <a:ext cx="7225748" cy="3793517"/>
          </a:xfrm>
          <a:prstGeom prst="rect">
            <a:avLst/>
          </a:prstGeom>
        </p:spPr>
      </p:pic>
    </p:spTree>
    <p:extLst>
      <p:ext uri="{BB962C8B-B14F-4D97-AF65-F5344CB8AC3E}">
        <p14:creationId xmlns:p14="http://schemas.microsoft.com/office/powerpoint/2010/main" val="2992029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2370DE-E4C3-8618-350F-FAC0E39CC3BC}"/>
              </a:ext>
            </a:extLst>
          </p:cNvPr>
          <p:cNvSpPr>
            <a:spLocks noGrp="1"/>
          </p:cNvSpPr>
          <p:nvPr>
            <p:ph type="title"/>
          </p:nvPr>
        </p:nvSpPr>
        <p:spPr/>
        <p:txBody>
          <a:bodyPr/>
          <a:lstStyle/>
          <a:p>
            <a:r>
              <a:rPr lang="en-US" altLang="zh-CN" dirty="0"/>
              <a:t>Learning Invariant Representations</a:t>
            </a:r>
            <a:endParaRPr lang="zh-CN" altLang="en-US" dirty="0"/>
          </a:p>
        </p:txBody>
      </p:sp>
      <p:sp>
        <p:nvSpPr>
          <p:cNvPr id="2" name="Content Placeholder 1">
            <a:extLst>
              <a:ext uri="{FF2B5EF4-FFF2-40B4-BE49-F238E27FC236}">
                <a16:creationId xmlns:a16="http://schemas.microsoft.com/office/drawing/2014/main" id="{092B7803-D6A5-FF50-DF81-90D1EAF912D1}"/>
              </a:ext>
            </a:extLst>
          </p:cNvPr>
          <p:cNvSpPr>
            <a:spLocks noGrp="1"/>
          </p:cNvSpPr>
          <p:nvPr>
            <p:ph idx="1"/>
          </p:nvPr>
        </p:nvSpPr>
        <p:spPr>
          <a:xfrm>
            <a:off x="838200" y="1390669"/>
            <a:ext cx="10515600" cy="5167047"/>
          </a:xfrm>
        </p:spPr>
        <p:txBody>
          <a:bodyPr>
            <a:normAutofit/>
          </a:bodyPr>
          <a:lstStyle/>
          <a:p>
            <a:r>
              <a:rPr lang="en-US"/>
              <a:t>Solution</a:t>
            </a:r>
            <a:r>
              <a:rPr lang="en-US" dirty="0"/>
              <a:t>: transform image-based observation into state representation </a:t>
            </a:r>
          </a:p>
          <a:p>
            <a:r>
              <a:rPr lang="en-US" altLang="zh-CN" dirty="0"/>
              <a:t>Ideal properties for state </a:t>
            </a:r>
            <a:r>
              <a:rPr lang="en-US" altLang="zh-CN"/>
              <a:t>representation:</a:t>
            </a:r>
            <a:endParaRPr lang="en-US" altLang="zh-CN" dirty="0"/>
          </a:p>
          <a:p>
            <a:pPr lvl="1"/>
            <a:r>
              <a:rPr lang="en-US" altLang="zh-CN" dirty="0"/>
              <a:t>Sufficiency</a:t>
            </a:r>
          </a:p>
          <a:p>
            <a:pPr lvl="1"/>
            <a:r>
              <a:rPr lang="en-US" altLang="zh-CN"/>
              <a:t>conciseness</a:t>
            </a:r>
            <a:endParaRPr lang="en-US" altLang="zh-CN" dirty="0"/>
          </a:p>
          <a:p>
            <a:r>
              <a:rPr lang="en-US" altLang="zh-CN" dirty="0"/>
              <a:t>task-relevant information </a:t>
            </a:r>
          </a:p>
          <a:p>
            <a:r>
              <a:rPr lang="en-US" altLang="zh-CN" dirty="0"/>
              <a:t>task-irrelevant information </a:t>
            </a:r>
          </a:p>
          <a:p>
            <a:r>
              <a:rPr lang="en-US" altLang="zh-CN"/>
              <a:t>multi-view </a:t>
            </a:r>
            <a:r>
              <a:rPr lang="en-US" altLang="zh-CN" dirty="0"/>
              <a:t>data </a:t>
            </a:r>
          </a:p>
          <a:p>
            <a:r>
              <a:rPr lang="en-US" altLang="zh-CN" dirty="0"/>
              <a:t>predictability of future states</a:t>
            </a:r>
          </a:p>
          <a:p>
            <a:endParaRPr lang="en-US" altLang="zh-CN" dirty="0"/>
          </a:p>
          <a:p>
            <a:r>
              <a:rPr lang="en-US" altLang="zh-CN" dirty="0"/>
              <a:t>Our solution is to maximize sequential multi-view total correlation</a:t>
            </a:r>
            <a:endParaRPr lang="zh-CN" altLang="en-US" dirty="0"/>
          </a:p>
        </p:txBody>
      </p:sp>
      <p:pic>
        <p:nvPicPr>
          <p:cNvPr id="1026" name="Picture 2" descr="Check icon Royalty Free Vector Image - VectorStock">
            <a:extLst>
              <a:ext uri="{FF2B5EF4-FFF2-40B4-BE49-F238E27FC236}">
                <a16:creationId xmlns:a16="http://schemas.microsoft.com/office/drawing/2014/main" id="{925FCC55-8B3F-B2B7-B0DD-4E261D709C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391"/>
          <a:stretch/>
        </p:blipFill>
        <p:spPr bwMode="auto">
          <a:xfrm>
            <a:off x="4808210" y="3006179"/>
            <a:ext cx="371283" cy="3508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ui, check, no Icon in LibreICONS">
            <a:extLst>
              <a:ext uri="{FF2B5EF4-FFF2-40B4-BE49-F238E27FC236}">
                <a16:creationId xmlns:a16="http://schemas.microsoft.com/office/drawing/2014/main" id="{04F32E40-9B08-309C-99C2-3797398284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4207" y="3484818"/>
            <a:ext cx="350876" cy="35087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heck icon Royalty Free Vector Image - VectorStock">
            <a:extLst>
              <a:ext uri="{FF2B5EF4-FFF2-40B4-BE49-F238E27FC236}">
                <a16:creationId xmlns:a16="http://schemas.microsoft.com/office/drawing/2014/main" id="{9F2C409F-826B-F7E1-2F4D-E8DAC64DF5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391"/>
          <a:stretch/>
        </p:blipFill>
        <p:spPr bwMode="auto">
          <a:xfrm>
            <a:off x="4784207" y="3932066"/>
            <a:ext cx="371283" cy="35087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5720626-8E08-D892-D857-A93D54F9D742}"/>
              </a:ext>
            </a:extLst>
          </p:cNvPr>
          <p:cNvPicPr>
            <a:picLocks noChangeAspect="1"/>
          </p:cNvPicPr>
          <p:nvPr/>
        </p:nvPicPr>
        <p:blipFill>
          <a:blip r:embed="rId5"/>
          <a:stretch>
            <a:fillRect/>
          </a:stretch>
        </p:blipFill>
        <p:spPr>
          <a:xfrm>
            <a:off x="7799510" y="2186688"/>
            <a:ext cx="3121903" cy="3228765"/>
          </a:xfrm>
          <a:prstGeom prst="rect">
            <a:avLst/>
          </a:prstGeom>
        </p:spPr>
      </p:pic>
      <p:pic>
        <p:nvPicPr>
          <p:cNvPr id="7" name="Picture 6" descr="Check icon Royalty Free Vector Image - VectorStock">
            <a:extLst>
              <a:ext uri="{FF2B5EF4-FFF2-40B4-BE49-F238E27FC236}">
                <a16:creationId xmlns:a16="http://schemas.microsoft.com/office/drawing/2014/main" id="{6EE3F2C2-7051-759C-41A2-E2D76DE19A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391"/>
          <a:stretch/>
        </p:blipFill>
        <p:spPr bwMode="auto">
          <a:xfrm>
            <a:off x="4784207" y="4421352"/>
            <a:ext cx="371283" cy="35087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AB5FB4A-E4D8-68B9-2E1B-E2BAAEB172D0}"/>
              </a:ext>
            </a:extLst>
          </p:cNvPr>
          <p:cNvSpPr txBox="1"/>
          <p:nvPr/>
        </p:nvSpPr>
        <p:spPr>
          <a:xfrm>
            <a:off x="838200" y="6280718"/>
            <a:ext cx="9968753" cy="276999"/>
          </a:xfrm>
          <a:prstGeom prst="rect">
            <a:avLst/>
          </a:prstGeom>
          <a:noFill/>
        </p:spPr>
        <p:txBody>
          <a:bodyPr wrap="square">
            <a:spAutoFit/>
          </a:bodyPr>
          <a:lstStyle/>
          <a:p>
            <a:r>
              <a:rPr lang="en-SG" sz="1200">
                <a:hlinkClick r:id="rId6"/>
              </a:rPr>
              <a:t>*[2006.10742] Learning Invariant Representations for Reinforcement Learning without Reconstruction (arxiv.org)</a:t>
            </a:r>
            <a:endParaRPr lang="en-SG" sz="1200"/>
          </a:p>
        </p:txBody>
      </p:sp>
      <p:sp>
        <p:nvSpPr>
          <p:cNvPr id="9" name="TextBox 8">
            <a:extLst>
              <a:ext uri="{FF2B5EF4-FFF2-40B4-BE49-F238E27FC236}">
                <a16:creationId xmlns:a16="http://schemas.microsoft.com/office/drawing/2014/main" id="{31E4D4C3-68E9-B79E-83D1-D69CCC8309AD}"/>
              </a:ext>
            </a:extLst>
          </p:cNvPr>
          <p:cNvSpPr txBox="1"/>
          <p:nvPr/>
        </p:nvSpPr>
        <p:spPr>
          <a:xfrm>
            <a:off x="9668434" y="5190331"/>
            <a:ext cx="1138519" cy="276999"/>
          </a:xfrm>
          <a:prstGeom prst="rect">
            <a:avLst/>
          </a:prstGeom>
          <a:noFill/>
        </p:spPr>
        <p:txBody>
          <a:bodyPr wrap="square" rtlCol="0">
            <a:spAutoFit/>
          </a:bodyPr>
          <a:lstStyle/>
          <a:p>
            <a:r>
              <a:rPr lang="en-SG" sz="1200"/>
              <a:t>cited from *.</a:t>
            </a:r>
          </a:p>
        </p:txBody>
      </p:sp>
    </p:spTree>
    <p:extLst>
      <p:ext uri="{BB962C8B-B14F-4D97-AF65-F5344CB8AC3E}">
        <p14:creationId xmlns:p14="http://schemas.microsoft.com/office/powerpoint/2010/main" val="1639479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F54F51-17E9-C2F9-B91A-1487EF424315}"/>
              </a:ext>
            </a:extLst>
          </p:cNvPr>
          <p:cNvPicPr>
            <a:picLocks noChangeAspect="1"/>
          </p:cNvPicPr>
          <p:nvPr/>
        </p:nvPicPr>
        <p:blipFill>
          <a:blip r:embed="rId3"/>
          <a:stretch>
            <a:fillRect/>
          </a:stretch>
        </p:blipFill>
        <p:spPr>
          <a:xfrm>
            <a:off x="8722659" y="1792033"/>
            <a:ext cx="2900028" cy="2999295"/>
          </a:xfrm>
          <a:prstGeom prst="rect">
            <a:avLst/>
          </a:prstGeom>
        </p:spPr>
      </p:pic>
      <p:sp>
        <p:nvSpPr>
          <p:cNvPr id="2" name="Title 1">
            <a:extLst>
              <a:ext uri="{FF2B5EF4-FFF2-40B4-BE49-F238E27FC236}">
                <a16:creationId xmlns:a16="http://schemas.microsoft.com/office/drawing/2014/main" id="{5ACC19EA-2C16-95E7-C269-F0A47493D5AD}"/>
              </a:ext>
            </a:extLst>
          </p:cNvPr>
          <p:cNvSpPr>
            <a:spLocks noGrp="1"/>
          </p:cNvSpPr>
          <p:nvPr>
            <p:ph type="title"/>
          </p:nvPr>
        </p:nvSpPr>
        <p:spPr/>
        <p:txBody>
          <a:bodyPr/>
          <a:lstStyle/>
          <a:p>
            <a:r>
              <a:rPr lang="en-US" altLang="zh-CN"/>
              <a:t>Visual Control Problem</a:t>
            </a:r>
            <a:endParaRPr lang="en-SG"/>
          </a:p>
        </p:txBody>
      </p:sp>
      <p:sp>
        <p:nvSpPr>
          <p:cNvPr id="3" name="Content Placeholder 2">
            <a:extLst>
              <a:ext uri="{FF2B5EF4-FFF2-40B4-BE49-F238E27FC236}">
                <a16:creationId xmlns:a16="http://schemas.microsoft.com/office/drawing/2014/main" id="{B2ED6176-20C4-FE93-7A89-ECFC5BCC3ED9}"/>
              </a:ext>
            </a:extLst>
          </p:cNvPr>
          <p:cNvSpPr>
            <a:spLocks noGrp="1"/>
          </p:cNvSpPr>
          <p:nvPr>
            <p:ph idx="1"/>
          </p:nvPr>
        </p:nvSpPr>
        <p:spPr>
          <a:xfrm>
            <a:off x="838200" y="1551963"/>
            <a:ext cx="8252012" cy="4625000"/>
          </a:xfrm>
        </p:spPr>
        <p:txBody>
          <a:bodyPr>
            <a:normAutofit/>
          </a:bodyPr>
          <a:lstStyle/>
          <a:p>
            <a:r>
              <a:rPr lang="en-SG"/>
              <a:t>Method: transform image-based observation into state representation </a:t>
            </a:r>
          </a:p>
          <a:p>
            <a:r>
              <a:rPr lang="en-SG"/>
              <a:t>Challenge:</a:t>
            </a:r>
          </a:p>
          <a:p>
            <a:pPr lvl="1"/>
            <a:r>
              <a:rPr lang="en-SG"/>
              <a:t>compress task-relevant information</a:t>
            </a:r>
          </a:p>
          <a:p>
            <a:pPr lvl="1"/>
            <a:r>
              <a:rPr lang="en-SG"/>
              <a:t>remove task-irrelevant information</a:t>
            </a:r>
          </a:p>
          <a:p>
            <a:r>
              <a:rPr lang="en-US" altLang="zh-CN"/>
              <a:t>Ideal properties for state representation:</a:t>
            </a:r>
          </a:p>
          <a:p>
            <a:pPr lvl="1"/>
            <a:r>
              <a:rPr lang="en-US" altLang="zh-CN"/>
              <a:t>sufficiency</a:t>
            </a:r>
          </a:p>
          <a:p>
            <a:pPr lvl="1"/>
            <a:r>
              <a:rPr lang="en-US" altLang="zh-CN"/>
              <a:t>conciseness</a:t>
            </a:r>
          </a:p>
          <a:p>
            <a:r>
              <a:rPr lang="en-SG"/>
              <a:t>Motivation: leveraging multi-view observation</a:t>
            </a:r>
            <a:endParaRPr lang="en-US" altLang="zh-CN"/>
          </a:p>
          <a:p>
            <a:r>
              <a:rPr lang="en-SG"/>
              <a:t>Our Solution: </a:t>
            </a:r>
            <a:r>
              <a:rPr lang="en-US" altLang="zh-CN"/>
              <a:t>maximize sequential multi-view total correlation</a:t>
            </a:r>
            <a:endParaRPr lang="en-SG"/>
          </a:p>
          <a:p>
            <a:endParaRPr lang="en-SG"/>
          </a:p>
        </p:txBody>
      </p:sp>
      <p:sp>
        <p:nvSpPr>
          <p:cNvPr id="5" name="TextBox 4">
            <a:extLst>
              <a:ext uri="{FF2B5EF4-FFF2-40B4-BE49-F238E27FC236}">
                <a16:creationId xmlns:a16="http://schemas.microsoft.com/office/drawing/2014/main" id="{0C9268BF-8A6D-C599-E988-064FF2EE889E}"/>
              </a:ext>
            </a:extLst>
          </p:cNvPr>
          <p:cNvSpPr txBox="1"/>
          <p:nvPr/>
        </p:nvSpPr>
        <p:spPr>
          <a:xfrm>
            <a:off x="8866095" y="4677455"/>
            <a:ext cx="3030070" cy="707886"/>
          </a:xfrm>
          <a:prstGeom prst="rect">
            <a:avLst/>
          </a:prstGeom>
          <a:noFill/>
        </p:spPr>
        <p:txBody>
          <a:bodyPr wrap="square" rtlCol="0">
            <a:spAutoFit/>
          </a:bodyPr>
          <a:lstStyle/>
          <a:p>
            <a:r>
              <a:rPr lang="en-SG" sz="1000">
                <a:latin typeface="Times New Roman" panose="02020603050405020304" pitchFamily="18" charset="0"/>
                <a:cs typeface="Times New Roman" panose="02020603050405020304" pitchFamily="18" charset="0"/>
                <a:hlinkClick r:id="rId4"/>
              </a:rPr>
              <a:t>Figure 1: [2006.10742] Learning Invariant Representations for Reinforcement Learning without Reconstruction (arxiv.org)</a:t>
            </a:r>
            <a:endParaRPr lang="en-SG" sz="1000">
              <a:latin typeface="Times New Roman" panose="02020603050405020304" pitchFamily="18" charset="0"/>
              <a:cs typeface="Times New Roman" panose="02020603050405020304" pitchFamily="18" charset="0"/>
            </a:endParaRPr>
          </a:p>
          <a:p>
            <a:endParaRPr lang="en-SG" sz="1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2446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708978B-1B39-B062-82BA-4BE0D5391529}"/>
              </a:ext>
            </a:extLst>
          </p:cNvPr>
          <p:cNvSpPr>
            <a:spLocks noGrp="1"/>
          </p:cNvSpPr>
          <p:nvPr>
            <p:ph type="title"/>
          </p:nvPr>
        </p:nvSpPr>
        <p:spPr/>
        <p:txBody>
          <a:bodyPr/>
          <a:lstStyle/>
          <a:p>
            <a:r>
              <a:rPr lang="en-US" altLang="zh-CN"/>
              <a:t>Multi-view Total Correlation</a:t>
            </a:r>
            <a:endParaRPr lang="zh-CN" altLang="en-US"/>
          </a:p>
        </p:txBody>
      </p:sp>
      <p:sp>
        <p:nvSpPr>
          <p:cNvPr id="7" name="Content Placeholder 6">
            <a:extLst>
              <a:ext uri="{FF2B5EF4-FFF2-40B4-BE49-F238E27FC236}">
                <a16:creationId xmlns:a16="http://schemas.microsoft.com/office/drawing/2014/main" id="{858B6513-BDBE-B7AE-3EA6-C0EBA007A086}"/>
              </a:ext>
            </a:extLst>
          </p:cNvPr>
          <p:cNvSpPr>
            <a:spLocks noGrp="1"/>
          </p:cNvSpPr>
          <p:nvPr>
            <p:ph idx="1"/>
          </p:nvPr>
        </p:nvSpPr>
        <p:spPr>
          <a:xfrm>
            <a:off x="836880" y="1551466"/>
            <a:ext cx="6374129" cy="4340259"/>
          </a:xfrm>
        </p:spPr>
        <p:txBody>
          <a:bodyPr>
            <a:normAutofit/>
          </a:bodyPr>
          <a:lstStyle/>
          <a:p>
            <a:r>
              <a:rPr lang="en-US" altLang="zh-CN"/>
              <a:t>multi-view Total Correlation: TC</a:t>
            </a:r>
          </a:p>
          <a:p>
            <a:endParaRPr lang="en-US" altLang="zh-CN"/>
          </a:p>
          <a:p>
            <a:endParaRPr lang="en-US" altLang="zh-CN"/>
          </a:p>
          <a:p>
            <a:endParaRPr lang="en-US" altLang="zh-CN"/>
          </a:p>
          <a:p>
            <a:r>
              <a:rPr lang="en-US" altLang="zh-CN"/>
              <a:t>redundancy and </a:t>
            </a:r>
            <a:r>
              <a:rPr lang="en-US" altLang="zh-CN" dirty="0"/>
              <a:t>dependency among a set </a:t>
            </a:r>
            <a:r>
              <a:rPr lang="en-US" altLang="zh-CN"/>
              <a:t>of random variables</a:t>
            </a:r>
            <a:endParaRPr lang="en-US" altLang="zh-CN" dirty="0"/>
          </a:p>
          <a:p>
            <a:r>
              <a:rPr lang="en-US" altLang="zh-CN"/>
              <a:t>balance between sufficiency and conciseness</a:t>
            </a:r>
            <a:endParaRPr lang="zh-CN" altLang="en-US" dirty="0"/>
          </a:p>
        </p:txBody>
      </p:sp>
      <p:pic>
        <p:nvPicPr>
          <p:cNvPr id="13" name="Picture 12">
            <a:extLst>
              <a:ext uri="{FF2B5EF4-FFF2-40B4-BE49-F238E27FC236}">
                <a16:creationId xmlns:a16="http://schemas.microsoft.com/office/drawing/2014/main" id="{11FE7D28-F9DD-D00B-9D00-89361C600CB8}"/>
              </a:ext>
            </a:extLst>
          </p:cNvPr>
          <p:cNvPicPr>
            <a:picLocks noChangeAspect="1"/>
          </p:cNvPicPr>
          <p:nvPr/>
        </p:nvPicPr>
        <p:blipFill>
          <a:blip r:embed="rId3"/>
          <a:stretch>
            <a:fillRect/>
          </a:stretch>
        </p:blipFill>
        <p:spPr>
          <a:xfrm>
            <a:off x="7373358" y="1944657"/>
            <a:ext cx="3981762" cy="2093306"/>
          </a:xfrm>
          <a:prstGeom prst="rect">
            <a:avLst/>
          </a:prstGeom>
        </p:spPr>
      </p:pic>
      <p:pic>
        <p:nvPicPr>
          <p:cNvPr id="15" name="Picture 14">
            <a:extLst>
              <a:ext uri="{FF2B5EF4-FFF2-40B4-BE49-F238E27FC236}">
                <a16:creationId xmlns:a16="http://schemas.microsoft.com/office/drawing/2014/main" id="{49D1565C-B910-8384-70D1-14096FD24042}"/>
              </a:ext>
            </a:extLst>
          </p:cNvPr>
          <p:cNvPicPr>
            <a:picLocks noChangeAspect="1"/>
          </p:cNvPicPr>
          <p:nvPr/>
        </p:nvPicPr>
        <p:blipFill>
          <a:blip r:embed="rId4"/>
          <a:stretch>
            <a:fillRect/>
          </a:stretch>
        </p:blipFill>
        <p:spPr>
          <a:xfrm>
            <a:off x="1388462" y="2164787"/>
            <a:ext cx="3858163" cy="809738"/>
          </a:xfrm>
          <a:prstGeom prst="rect">
            <a:avLst/>
          </a:prstGeom>
        </p:spPr>
      </p:pic>
      <p:sp>
        <p:nvSpPr>
          <p:cNvPr id="2" name="TextBox 1">
            <a:extLst>
              <a:ext uri="{FF2B5EF4-FFF2-40B4-BE49-F238E27FC236}">
                <a16:creationId xmlns:a16="http://schemas.microsoft.com/office/drawing/2014/main" id="{21323982-79A1-3FE0-2AA7-AE7725A02A4D}"/>
              </a:ext>
            </a:extLst>
          </p:cNvPr>
          <p:cNvSpPr txBox="1"/>
          <p:nvPr/>
        </p:nvSpPr>
        <p:spPr>
          <a:xfrm>
            <a:off x="7918475" y="4159527"/>
            <a:ext cx="478465" cy="369332"/>
          </a:xfrm>
          <a:prstGeom prst="rect">
            <a:avLst/>
          </a:prstGeom>
          <a:noFill/>
        </p:spPr>
        <p:txBody>
          <a:bodyPr wrap="square" rtlCol="0">
            <a:spAutoFit/>
          </a:bodyPr>
          <a:lstStyle/>
          <a:p>
            <a:r>
              <a:rPr lang="en-US" altLang="zh-CN">
                <a:latin typeface="Times New Roman" panose="02020603050405020304" pitchFamily="18" charset="0"/>
                <a:cs typeface="Times New Roman" panose="02020603050405020304" pitchFamily="18" charset="0"/>
              </a:rPr>
              <a:t>(a)</a:t>
            </a:r>
            <a:endParaRPr lang="zh-CN" alt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E19C154-04FC-CBC7-9137-24D30BB90451}"/>
              </a:ext>
            </a:extLst>
          </p:cNvPr>
          <p:cNvSpPr txBox="1"/>
          <p:nvPr/>
        </p:nvSpPr>
        <p:spPr>
          <a:xfrm>
            <a:off x="9696507" y="4197844"/>
            <a:ext cx="478465" cy="369332"/>
          </a:xfrm>
          <a:prstGeom prst="rect">
            <a:avLst/>
          </a:prstGeom>
          <a:noFill/>
        </p:spPr>
        <p:txBody>
          <a:bodyPr wrap="square" rtlCol="0">
            <a:spAutoFit/>
          </a:bodyPr>
          <a:lstStyle/>
          <a:p>
            <a:r>
              <a:rPr lang="en-US" altLang="zh-CN">
                <a:latin typeface="Times New Roman" panose="02020603050405020304" pitchFamily="18" charset="0"/>
                <a:cs typeface="Times New Roman" panose="02020603050405020304" pitchFamily="18" charset="0"/>
              </a:rPr>
              <a:t>(b)</a:t>
            </a:r>
            <a:endParaRPr lang="zh-CN" altLang="en-US">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BB0C10B-1FBE-6356-3A56-B411DB4486EA}"/>
              </a:ext>
            </a:extLst>
          </p:cNvPr>
          <p:cNvSpPr txBox="1"/>
          <p:nvPr/>
        </p:nvSpPr>
        <p:spPr>
          <a:xfrm>
            <a:off x="889778" y="6127590"/>
            <a:ext cx="8713694" cy="307777"/>
          </a:xfrm>
          <a:prstGeom prst="rect">
            <a:avLst/>
          </a:prstGeom>
          <a:noFill/>
        </p:spPr>
        <p:txBody>
          <a:bodyPr wrap="square">
            <a:spAutoFit/>
          </a:bodyPr>
          <a:lstStyle/>
          <a:p>
            <a:r>
              <a:rPr lang="en-SG" sz="1400">
                <a:latin typeface="Times New Roman" panose="02020603050405020304" pitchFamily="18" charset="0"/>
                <a:cs typeface="Times New Roman" panose="02020603050405020304" pitchFamily="18" charset="0"/>
              </a:rPr>
              <a:t>*Multi-View Representation Learning via Total Correlation Objective, Hwang et al., NIPS 2021</a:t>
            </a:r>
          </a:p>
        </p:txBody>
      </p:sp>
    </p:spTree>
    <p:extLst>
      <p:ext uri="{BB962C8B-B14F-4D97-AF65-F5344CB8AC3E}">
        <p14:creationId xmlns:p14="http://schemas.microsoft.com/office/powerpoint/2010/main" val="430522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fade">
                                      <p:cBhvr>
                                        <p:cTn id="28" dur="50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fade">
                                      <p:cBhvr>
                                        <p:cTn id="33"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5A79B-F3BE-4776-B51D-C22E8E3908E3}"/>
              </a:ext>
            </a:extLst>
          </p:cNvPr>
          <p:cNvSpPr>
            <a:spLocks noGrp="1"/>
          </p:cNvSpPr>
          <p:nvPr>
            <p:ph type="title"/>
          </p:nvPr>
        </p:nvSpPr>
        <p:spPr/>
        <p:txBody>
          <a:bodyPr/>
          <a:lstStyle/>
          <a:p>
            <a:r>
              <a:rPr lang="en-SG" altLang="zh-CN"/>
              <a:t>Predictive Informatics</a:t>
            </a:r>
            <a:endParaRPr lang="zh-CN" altLang="en-US"/>
          </a:p>
        </p:txBody>
      </p:sp>
      <p:sp>
        <p:nvSpPr>
          <p:cNvPr id="3" name="Content Placeholder 2">
            <a:extLst>
              <a:ext uri="{FF2B5EF4-FFF2-40B4-BE49-F238E27FC236}">
                <a16:creationId xmlns:a16="http://schemas.microsoft.com/office/drawing/2014/main" id="{B2A00474-283B-716D-B393-0A30BA0789E0}"/>
              </a:ext>
            </a:extLst>
          </p:cNvPr>
          <p:cNvSpPr>
            <a:spLocks noGrp="1"/>
          </p:cNvSpPr>
          <p:nvPr>
            <p:ph idx="1"/>
          </p:nvPr>
        </p:nvSpPr>
        <p:spPr>
          <a:xfrm>
            <a:off x="785147" y="2729933"/>
            <a:ext cx="4701988" cy="2069778"/>
          </a:xfrm>
        </p:spPr>
        <p:txBody>
          <a:bodyPr/>
          <a:lstStyle/>
          <a:p>
            <a:r>
              <a:rPr lang="en-US" altLang="zh-CN"/>
              <a:t>PI-SAC*</a:t>
            </a:r>
          </a:p>
          <a:p>
            <a:r>
              <a:rPr lang="en-US" altLang="zh-CN"/>
              <a:t>temporal structure</a:t>
            </a:r>
          </a:p>
          <a:p>
            <a:r>
              <a:rPr lang="en-US" altLang="zh-CN"/>
              <a:t>conditional entropy bottleneck</a:t>
            </a:r>
          </a:p>
        </p:txBody>
      </p:sp>
      <p:grpSp>
        <p:nvGrpSpPr>
          <p:cNvPr id="4" name="Group 3">
            <a:extLst>
              <a:ext uri="{FF2B5EF4-FFF2-40B4-BE49-F238E27FC236}">
                <a16:creationId xmlns:a16="http://schemas.microsoft.com/office/drawing/2014/main" id="{AAA7EB79-F149-4628-807C-BAE6AD3B627D}"/>
              </a:ext>
            </a:extLst>
          </p:cNvPr>
          <p:cNvGrpSpPr/>
          <p:nvPr/>
        </p:nvGrpSpPr>
        <p:grpSpPr>
          <a:xfrm>
            <a:off x="5123435" y="1827804"/>
            <a:ext cx="6521718" cy="3420323"/>
            <a:chOff x="4486940" y="1375794"/>
            <a:chExt cx="6905979" cy="3525815"/>
          </a:xfrm>
        </p:grpSpPr>
        <p:pic>
          <p:nvPicPr>
            <p:cNvPr id="9" name="Picture 8">
              <a:extLst>
                <a:ext uri="{FF2B5EF4-FFF2-40B4-BE49-F238E27FC236}">
                  <a16:creationId xmlns:a16="http://schemas.microsoft.com/office/drawing/2014/main" id="{A297A02C-E3E1-1595-DBF8-1B7C1212183C}"/>
                </a:ext>
              </a:extLst>
            </p:cNvPr>
            <p:cNvPicPr>
              <a:picLocks noChangeAspect="1"/>
            </p:cNvPicPr>
            <p:nvPr/>
          </p:nvPicPr>
          <p:blipFill>
            <a:blip r:embed="rId3"/>
            <a:stretch>
              <a:fillRect/>
            </a:stretch>
          </p:blipFill>
          <p:spPr>
            <a:xfrm>
              <a:off x="4644435" y="1607939"/>
              <a:ext cx="3794467" cy="383876"/>
            </a:xfrm>
            <a:prstGeom prst="rect">
              <a:avLst/>
            </a:prstGeom>
          </p:spPr>
        </p:pic>
        <p:pic>
          <p:nvPicPr>
            <p:cNvPr id="11" name="Picture 10">
              <a:extLst>
                <a:ext uri="{FF2B5EF4-FFF2-40B4-BE49-F238E27FC236}">
                  <a16:creationId xmlns:a16="http://schemas.microsoft.com/office/drawing/2014/main" id="{1A3AF66B-B581-17DF-25FB-1B3BE6C70E40}"/>
                </a:ext>
              </a:extLst>
            </p:cNvPr>
            <p:cNvPicPr>
              <a:picLocks noChangeAspect="1"/>
            </p:cNvPicPr>
            <p:nvPr/>
          </p:nvPicPr>
          <p:blipFill>
            <a:blip r:embed="rId4"/>
            <a:stretch>
              <a:fillRect/>
            </a:stretch>
          </p:blipFill>
          <p:spPr>
            <a:xfrm>
              <a:off x="4644435" y="1956315"/>
              <a:ext cx="5107664" cy="698865"/>
            </a:xfrm>
            <a:prstGeom prst="rect">
              <a:avLst/>
            </a:prstGeom>
          </p:spPr>
        </p:pic>
        <p:pic>
          <p:nvPicPr>
            <p:cNvPr id="13" name="Picture 12">
              <a:extLst>
                <a:ext uri="{FF2B5EF4-FFF2-40B4-BE49-F238E27FC236}">
                  <a16:creationId xmlns:a16="http://schemas.microsoft.com/office/drawing/2014/main" id="{D6135AA0-F8CB-5383-AA52-9E6A86730C22}"/>
                </a:ext>
              </a:extLst>
            </p:cNvPr>
            <p:cNvPicPr>
              <a:picLocks noChangeAspect="1"/>
            </p:cNvPicPr>
            <p:nvPr/>
          </p:nvPicPr>
          <p:blipFill>
            <a:blip r:embed="rId5"/>
            <a:stretch>
              <a:fillRect/>
            </a:stretch>
          </p:blipFill>
          <p:spPr>
            <a:xfrm>
              <a:off x="4925235" y="2655180"/>
              <a:ext cx="6414519" cy="2132371"/>
            </a:xfrm>
            <a:prstGeom prst="rect">
              <a:avLst/>
            </a:prstGeom>
          </p:spPr>
        </p:pic>
        <p:sp>
          <p:nvSpPr>
            <p:cNvPr id="5" name="Rectangle: Rounded Corners 4">
              <a:extLst>
                <a:ext uri="{FF2B5EF4-FFF2-40B4-BE49-F238E27FC236}">
                  <a16:creationId xmlns:a16="http://schemas.microsoft.com/office/drawing/2014/main" id="{F22D3553-4F99-A84B-A4DA-FD283551B7F7}"/>
                </a:ext>
              </a:extLst>
            </p:cNvPr>
            <p:cNvSpPr/>
            <p:nvPr/>
          </p:nvSpPr>
          <p:spPr>
            <a:xfrm>
              <a:off x="4486940" y="1375794"/>
              <a:ext cx="6905979" cy="3525815"/>
            </a:xfrm>
            <a:prstGeom prst="roundRect">
              <a:avLst>
                <a:gd name="adj" fmla="val 7922"/>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extBox 9">
            <a:extLst>
              <a:ext uri="{FF2B5EF4-FFF2-40B4-BE49-F238E27FC236}">
                <a16:creationId xmlns:a16="http://schemas.microsoft.com/office/drawing/2014/main" id="{AE82A8C7-8399-B0DB-641E-2319750F458C}"/>
              </a:ext>
            </a:extLst>
          </p:cNvPr>
          <p:cNvSpPr txBox="1"/>
          <p:nvPr/>
        </p:nvSpPr>
        <p:spPr>
          <a:xfrm>
            <a:off x="838200" y="6123543"/>
            <a:ext cx="7794812" cy="307777"/>
          </a:xfrm>
          <a:prstGeom prst="rect">
            <a:avLst/>
          </a:prstGeom>
          <a:noFill/>
        </p:spPr>
        <p:txBody>
          <a:bodyPr wrap="square">
            <a:spAutoFit/>
          </a:bodyPr>
          <a:lstStyle/>
          <a:p>
            <a:r>
              <a:rPr lang="en-SG" sz="1400"/>
              <a:t>*Predictive Information Accelerates Learning in RL, Lee et al., NeurIPS 2020</a:t>
            </a:r>
          </a:p>
        </p:txBody>
      </p:sp>
    </p:spTree>
    <p:extLst>
      <p:ext uri="{BB962C8B-B14F-4D97-AF65-F5344CB8AC3E}">
        <p14:creationId xmlns:p14="http://schemas.microsoft.com/office/powerpoint/2010/main" val="25040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729B-7AC8-5E1F-D3D0-ABBB97DBE234}"/>
              </a:ext>
            </a:extLst>
          </p:cNvPr>
          <p:cNvSpPr>
            <a:spLocks noGrp="1"/>
          </p:cNvSpPr>
          <p:nvPr>
            <p:ph type="title"/>
          </p:nvPr>
        </p:nvSpPr>
        <p:spPr/>
        <p:txBody>
          <a:bodyPr/>
          <a:lstStyle/>
          <a:p>
            <a:r>
              <a:rPr lang="en-US" altLang="zh-CN"/>
              <a:t>Sequential Multi-view Total Correlation</a:t>
            </a:r>
            <a:endParaRPr lang="en-SG"/>
          </a:p>
        </p:txBody>
      </p:sp>
      <p:sp>
        <p:nvSpPr>
          <p:cNvPr id="3" name="Content Placeholder 2">
            <a:extLst>
              <a:ext uri="{FF2B5EF4-FFF2-40B4-BE49-F238E27FC236}">
                <a16:creationId xmlns:a16="http://schemas.microsoft.com/office/drawing/2014/main" id="{A1C3C6BA-C692-A01F-D970-2449F0196B2D}"/>
              </a:ext>
            </a:extLst>
          </p:cNvPr>
          <p:cNvSpPr>
            <a:spLocks noGrp="1"/>
          </p:cNvSpPr>
          <p:nvPr>
            <p:ph idx="1"/>
          </p:nvPr>
        </p:nvSpPr>
        <p:spPr/>
        <p:txBody>
          <a:bodyPr/>
          <a:lstStyle/>
          <a:p>
            <a:r>
              <a:rPr lang="en-SG"/>
              <a:t>Motivated by </a:t>
            </a:r>
            <a:r>
              <a:rPr lang="en-US" altLang="zh-CN"/>
              <a:t>Multi-view Total Correlation and Predictive Information</a:t>
            </a:r>
          </a:p>
          <a:p>
            <a:endParaRPr lang="en-US"/>
          </a:p>
          <a:p>
            <a:endParaRPr lang="en-US"/>
          </a:p>
          <a:p>
            <a:endParaRPr lang="en-US"/>
          </a:p>
          <a:p>
            <a:endParaRPr lang="en-US"/>
          </a:p>
          <a:p>
            <a:endParaRPr lang="en-US"/>
          </a:p>
          <a:p>
            <a:r>
              <a:rPr lang="en-SG"/>
              <a:t>Extend TC into </a:t>
            </a:r>
            <a:r>
              <a:rPr lang="en-US" altLang="zh-CN"/>
              <a:t>Sequential Multi-view Total Correlation</a:t>
            </a:r>
            <a:endParaRPr lang="en-US"/>
          </a:p>
        </p:txBody>
      </p:sp>
      <p:pic>
        <p:nvPicPr>
          <p:cNvPr id="4" name="Picture 3">
            <a:extLst>
              <a:ext uri="{FF2B5EF4-FFF2-40B4-BE49-F238E27FC236}">
                <a16:creationId xmlns:a16="http://schemas.microsoft.com/office/drawing/2014/main" id="{903E76F5-21BD-7AA6-7835-1E8AE0C29188}"/>
              </a:ext>
            </a:extLst>
          </p:cNvPr>
          <p:cNvPicPr>
            <a:picLocks noChangeAspect="1"/>
          </p:cNvPicPr>
          <p:nvPr/>
        </p:nvPicPr>
        <p:blipFill>
          <a:blip r:embed="rId2"/>
          <a:stretch>
            <a:fillRect/>
          </a:stretch>
        </p:blipFill>
        <p:spPr>
          <a:xfrm>
            <a:off x="1832603" y="2608920"/>
            <a:ext cx="2918695" cy="612566"/>
          </a:xfrm>
          <a:prstGeom prst="rect">
            <a:avLst/>
          </a:prstGeom>
        </p:spPr>
      </p:pic>
      <p:grpSp>
        <p:nvGrpSpPr>
          <p:cNvPr id="5" name="Group 4">
            <a:extLst>
              <a:ext uri="{FF2B5EF4-FFF2-40B4-BE49-F238E27FC236}">
                <a16:creationId xmlns:a16="http://schemas.microsoft.com/office/drawing/2014/main" id="{18CEEBF6-0DF8-391E-F86B-29AF989E3A4B}"/>
              </a:ext>
            </a:extLst>
          </p:cNvPr>
          <p:cNvGrpSpPr/>
          <p:nvPr/>
        </p:nvGrpSpPr>
        <p:grpSpPr>
          <a:xfrm>
            <a:off x="6342635" y="2061672"/>
            <a:ext cx="4119177" cy="2074832"/>
            <a:chOff x="4486940" y="1375794"/>
            <a:chExt cx="6905979" cy="3525815"/>
          </a:xfrm>
        </p:grpSpPr>
        <p:pic>
          <p:nvPicPr>
            <p:cNvPr id="6" name="Picture 5">
              <a:extLst>
                <a:ext uri="{FF2B5EF4-FFF2-40B4-BE49-F238E27FC236}">
                  <a16:creationId xmlns:a16="http://schemas.microsoft.com/office/drawing/2014/main" id="{D51FCA7B-8A39-103F-1698-D3430751C569}"/>
                </a:ext>
              </a:extLst>
            </p:cNvPr>
            <p:cNvPicPr>
              <a:picLocks noChangeAspect="1"/>
            </p:cNvPicPr>
            <p:nvPr/>
          </p:nvPicPr>
          <p:blipFill>
            <a:blip r:embed="rId3"/>
            <a:stretch>
              <a:fillRect/>
            </a:stretch>
          </p:blipFill>
          <p:spPr>
            <a:xfrm>
              <a:off x="4644435" y="1607939"/>
              <a:ext cx="3794467" cy="383876"/>
            </a:xfrm>
            <a:prstGeom prst="rect">
              <a:avLst/>
            </a:prstGeom>
          </p:spPr>
        </p:pic>
        <p:pic>
          <p:nvPicPr>
            <p:cNvPr id="8" name="Picture 7">
              <a:extLst>
                <a:ext uri="{FF2B5EF4-FFF2-40B4-BE49-F238E27FC236}">
                  <a16:creationId xmlns:a16="http://schemas.microsoft.com/office/drawing/2014/main" id="{B0153305-0659-B4CE-F51E-331391051547}"/>
                </a:ext>
              </a:extLst>
            </p:cNvPr>
            <p:cNvPicPr>
              <a:picLocks noChangeAspect="1"/>
            </p:cNvPicPr>
            <p:nvPr/>
          </p:nvPicPr>
          <p:blipFill>
            <a:blip r:embed="rId4"/>
            <a:stretch>
              <a:fillRect/>
            </a:stretch>
          </p:blipFill>
          <p:spPr>
            <a:xfrm>
              <a:off x="4644435" y="1956315"/>
              <a:ext cx="5107664" cy="698865"/>
            </a:xfrm>
            <a:prstGeom prst="rect">
              <a:avLst/>
            </a:prstGeom>
          </p:spPr>
        </p:pic>
        <p:pic>
          <p:nvPicPr>
            <p:cNvPr id="9" name="Picture 8">
              <a:extLst>
                <a:ext uri="{FF2B5EF4-FFF2-40B4-BE49-F238E27FC236}">
                  <a16:creationId xmlns:a16="http://schemas.microsoft.com/office/drawing/2014/main" id="{647CC504-5DF5-832D-3FF9-AA67F70527BF}"/>
                </a:ext>
              </a:extLst>
            </p:cNvPr>
            <p:cNvPicPr>
              <a:picLocks noChangeAspect="1"/>
            </p:cNvPicPr>
            <p:nvPr/>
          </p:nvPicPr>
          <p:blipFill>
            <a:blip r:embed="rId5"/>
            <a:stretch>
              <a:fillRect/>
            </a:stretch>
          </p:blipFill>
          <p:spPr>
            <a:xfrm>
              <a:off x="4925235" y="2655180"/>
              <a:ext cx="6414519" cy="2132371"/>
            </a:xfrm>
            <a:prstGeom prst="rect">
              <a:avLst/>
            </a:prstGeom>
          </p:spPr>
        </p:pic>
        <p:sp>
          <p:nvSpPr>
            <p:cNvPr id="10" name="Rectangle: Rounded Corners 9">
              <a:extLst>
                <a:ext uri="{FF2B5EF4-FFF2-40B4-BE49-F238E27FC236}">
                  <a16:creationId xmlns:a16="http://schemas.microsoft.com/office/drawing/2014/main" id="{1F107778-8754-D58C-40E7-36F88360AB74}"/>
                </a:ext>
              </a:extLst>
            </p:cNvPr>
            <p:cNvSpPr/>
            <p:nvPr/>
          </p:nvSpPr>
          <p:spPr>
            <a:xfrm>
              <a:off x="4486940" y="1375794"/>
              <a:ext cx="6905979" cy="3525815"/>
            </a:xfrm>
            <a:prstGeom prst="roundRect">
              <a:avLst>
                <a:gd name="adj" fmla="val 7922"/>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Group 11">
            <a:extLst>
              <a:ext uri="{FF2B5EF4-FFF2-40B4-BE49-F238E27FC236}">
                <a16:creationId xmlns:a16="http://schemas.microsoft.com/office/drawing/2014/main" id="{3910C413-BF34-9B98-FAE6-540EA218E127}"/>
              </a:ext>
            </a:extLst>
          </p:cNvPr>
          <p:cNvGrpSpPr/>
          <p:nvPr/>
        </p:nvGrpSpPr>
        <p:grpSpPr>
          <a:xfrm>
            <a:off x="2054821" y="4822264"/>
            <a:ext cx="7201297" cy="1178888"/>
            <a:chOff x="2054821" y="4822264"/>
            <a:chExt cx="7201297" cy="1178888"/>
          </a:xfrm>
        </p:grpSpPr>
        <p:pic>
          <p:nvPicPr>
            <p:cNvPr id="14" name="Picture 13">
              <a:extLst>
                <a:ext uri="{FF2B5EF4-FFF2-40B4-BE49-F238E27FC236}">
                  <a16:creationId xmlns:a16="http://schemas.microsoft.com/office/drawing/2014/main" id="{FD0A12FB-36A1-A7F2-0E78-31743F8812A0}"/>
                </a:ext>
              </a:extLst>
            </p:cNvPr>
            <p:cNvPicPr>
              <a:picLocks noChangeAspect="1"/>
            </p:cNvPicPr>
            <p:nvPr/>
          </p:nvPicPr>
          <p:blipFill>
            <a:blip r:embed="rId6"/>
            <a:stretch>
              <a:fillRect/>
            </a:stretch>
          </p:blipFill>
          <p:spPr>
            <a:xfrm>
              <a:off x="2054821" y="4822264"/>
              <a:ext cx="4997922" cy="1178888"/>
            </a:xfrm>
            <a:prstGeom prst="rect">
              <a:avLst/>
            </a:prstGeom>
          </p:spPr>
        </p:pic>
        <p:pic>
          <p:nvPicPr>
            <p:cNvPr id="7" name="Picture 6">
              <a:extLst>
                <a:ext uri="{FF2B5EF4-FFF2-40B4-BE49-F238E27FC236}">
                  <a16:creationId xmlns:a16="http://schemas.microsoft.com/office/drawing/2014/main" id="{8B0AE862-86AF-4455-0E19-C7BBA773ADCF}"/>
                </a:ext>
              </a:extLst>
            </p:cNvPr>
            <p:cNvPicPr>
              <a:picLocks noChangeAspect="1"/>
            </p:cNvPicPr>
            <p:nvPr/>
          </p:nvPicPr>
          <p:blipFill rotWithShape="1">
            <a:blip r:embed="rId6"/>
            <a:srcRect l="55914" t="64689"/>
            <a:stretch/>
          </p:blipFill>
          <p:spPr>
            <a:xfrm>
              <a:off x="7052743" y="4995438"/>
              <a:ext cx="2203375" cy="416270"/>
            </a:xfrm>
            <a:prstGeom prst="rect">
              <a:avLst/>
            </a:prstGeom>
          </p:spPr>
        </p:pic>
      </p:grpSp>
      <p:sp>
        <p:nvSpPr>
          <p:cNvPr id="11" name="Rectangle 10">
            <a:extLst>
              <a:ext uri="{FF2B5EF4-FFF2-40B4-BE49-F238E27FC236}">
                <a16:creationId xmlns:a16="http://schemas.microsoft.com/office/drawing/2014/main" id="{4FF093F3-4825-D820-19B7-274BC1141FB8}"/>
              </a:ext>
            </a:extLst>
          </p:cNvPr>
          <p:cNvSpPr/>
          <p:nvPr/>
        </p:nvSpPr>
        <p:spPr>
          <a:xfrm>
            <a:off x="4751297" y="5547605"/>
            <a:ext cx="2301445" cy="4535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573613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7FFC6-285E-8598-3621-D12B888F1D87}"/>
              </a:ext>
            </a:extLst>
          </p:cNvPr>
          <p:cNvSpPr>
            <a:spLocks noGrp="1"/>
          </p:cNvSpPr>
          <p:nvPr>
            <p:ph type="title"/>
          </p:nvPr>
        </p:nvSpPr>
        <p:spPr/>
        <p:txBody>
          <a:bodyPr/>
          <a:lstStyle/>
          <a:p>
            <a:r>
              <a:rPr lang="en-US" altLang="zh-CN"/>
              <a:t>Encoder Surrogate Loss</a:t>
            </a:r>
            <a:endParaRPr lang="zh-CN" altLang="en-US" dirty="0"/>
          </a:p>
        </p:txBody>
      </p:sp>
      <p:sp>
        <p:nvSpPr>
          <p:cNvPr id="3" name="Content Placeholder 2">
            <a:extLst>
              <a:ext uri="{FF2B5EF4-FFF2-40B4-BE49-F238E27FC236}">
                <a16:creationId xmlns:a16="http://schemas.microsoft.com/office/drawing/2014/main" id="{42B8436C-BE25-217A-35F9-4A5CDD8523BD}"/>
              </a:ext>
            </a:extLst>
          </p:cNvPr>
          <p:cNvSpPr>
            <a:spLocks noGrp="1"/>
          </p:cNvSpPr>
          <p:nvPr>
            <p:ph idx="1"/>
          </p:nvPr>
        </p:nvSpPr>
        <p:spPr>
          <a:xfrm>
            <a:off x="797414" y="1386506"/>
            <a:ext cx="5446059" cy="4625000"/>
          </a:xfrm>
        </p:spPr>
        <p:txBody>
          <a:bodyPr/>
          <a:lstStyle/>
          <a:p>
            <a:r>
              <a:rPr lang="en-SG"/>
              <a:t>Objective: maximize SMTC</a:t>
            </a:r>
          </a:p>
          <a:p>
            <a:r>
              <a:rPr lang="en-SG"/>
              <a:t>SMTC: intractable to compute</a:t>
            </a:r>
          </a:p>
          <a:p>
            <a:r>
              <a:rPr lang="en-SG"/>
              <a:t>Find a lower bound as surrogate loss</a:t>
            </a:r>
          </a:p>
        </p:txBody>
      </p:sp>
      <p:pic>
        <p:nvPicPr>
          <p:cNvPr id="11" name="Picture 10">
            <a:extLst>
              <a:ext uri="{FF2B5EF4-FFF2-40B4-BE49-F238E27FC236}">
                <a16:creationId xmlns:a16="http://schemas.microsoft.com/office/drawing/2014/main" id="{6B445F40-7A7D-A139-E71A-8F3B0A03B31C}"/>
              </a:ext>
            </a:extLst>
          </p:cNvPr>
          <p:cNvPicPr>
            <a:picLocks noChangeAspect="1"/>
          </p:cNvPicPr>
          <p:nvPr/>
        </p:nvPicPr>
        <p:blipFill>
          <a:blip r:embed="rId3"/>
          <a:stretch>
            <a:fillRect/>
          </a:stretch>
        </p:blipFill>
        <p:spPr>
          <a:xfrm>
            <a:off x="6609443" y="1313137"/>
            <a:ext cx="4744357" cy="4231726"/>
          </a:xfrm>
          <a:prstGeom prst="rect">
            <a:avLst/>
          </a:prstGeom>
        </p:spPr>
      </p:pic>
      <p:pic>
        <p:nvPicPr>
          <p:cNvPr id="13" name="Picture 12">
            <a:extLst>
              <a:ext uri="{FF2B5EF4-FFF2-40B4-BE49-F238E27FC236}">
                <a16:creationId xmlns:a16="http://schemas.microsoft.com/office/drawing/2014/main" id="{38CD3CDD-17DD-6E34-C1F5-511F4C091E6D}"/>
              </a:ext>
            </a:extLst>
          </p:cNvPr>
          <p:cNvPicPr>
            <a:picLocks noChangeAspect="1"/>
          </p:cNvPicPr>
          <p:nvPr/>
        </p:nvPicPr>
        <p:blipFill>
          <a:blip r:embed="rId4"/>
          <a:stretch>
            <a:fillRect/>
          </a:stretch>
        </p:blipFill>
        <p:spPr>
          <a:xfrm>
            <a:off x="1953754" y="3233710"/>
            <a:ext cx="2114845" cy="390580"/>
          </a:xfrm>
          <a:prstGeom prst="rect">
            <a:avLst/>
          </a:prstGeom>
        </p:spPr>
      </p:pic>
      <p:grpSp>
        <p:nvGrpSpPr>
          <p:cNvPr id="29" name="Group 28">
            <a:extLst>
              <a:ext uri="{FF2B5EF4-FFF2-40B4-BE49-F238E27FC236}">
                <a16:creationId xmlns:a16="http://schemas.microsoft.com/office/drawing/2014/main" id="{5BB3D4EE-7069-A983-3A94-0E8D969982F3}"/>
              </a:ext>
            </a:extLst>
          </p:cNvPr>
          <p:cNvGrpSpPr/>
          <p:nvPr/>
        </p:nvGrpSpPr>
        <p:grpSpPr>
          <a:xfrm>
            <a:off x="838200" y="3781833"/>
            <a:ext cx="5031754" cy="2432877"/>
            <a:chOff x="1064246" y="3377136"/>
            <a:chExt cx="5031754" cy="2432877"/>
          </a:xfrm>
        </p:grpSpPr>
        <p:pic>
          <p:nvPicPr>
            <p:cNvPr id="17" name="Picture 16">
              <a:extLst>
                <a:ext uri="{FF2B5EF4-FFF2-40B4-BE49-F238E27FC236}">
                  <a16:creationId xmlns:a16="http://schemas.microsoft.com/office/drawing/2014/main" id="{4E55C182-858D-6A15-A35B-35A842FA7ADC}"/>
                </a:ext>
              </a:extLst>
            </p:cNvPr>
            <p:cNvPicPr>
              <a:picLocks noChangeAspect="1"/>
            </p:cNvPicPr>
            <p:nvPr/>
          </p:nvPicPr>
          <p:blipFill>
            <a:blip r:embed="rId5"/>
            <a:stretch>
              <a:fillRect/>
            </a:stretch>
          </p:blipFill>
          <p:spPr>
            <a:xfrm>
              <a:off x="3420032" y="3391220"/>
              <a:ext cx="2675968" cy="508004"/>
            </a:xfrm>
            <a:prstGeom prst="rect">
              <a:avLst/>
            </a:prstGeom>
          </p:spPr>
        </p:pic>
        <p:pic>
          <p:nvPicPr>
            <p:cNvPr id="18" name="Picture 17">
              <a:extLst>
                <a:ext uri="{FF2B5EF4-FFF2-40B4-BE49-F238E27FC236}">
                  <a16:creationId xmlns:a16="http://schemas.microsoft.com/office/drawing/2014/main" id="{714990FA-6092-611B-DDDD-1547F1655DA8}"/>
                </a:ext>
              </a:extLst>
            </p:cNvPr>
            <p:cNvPicPr>
              <a:picLocks noChangeAspect="1"/>
            </p:cNvPicPr>
            <p:nvPr/>
          </p:nvPicPr>
          <p:blipFill>
            <a:blip r:embed="rId6"/>
            <a:stretch>
              <a:fillRect/>
            </a:stretch>
          </p:blipFill>
          <p:spPr>
            <a:xfrm>
              <a:off x="2035190" y="4315564"/>
              <a:ext cx="3836492" cy="490794"/>
            </a:xfrm>
            <a:prstGeom prst="rect">
              <a:avLst/>
            </a:prstGeom>
          </p:spPr>
        </p:pic>
        <p:pic>
          <p:nvPicPr>
            <p:cNvPr id="19" name="Picture 18">
              <a:extLst>
                <a:ext uri="{FF2B5EF4-FFF2-40B4-BE49-F238E27FC236}">
                  <a16:creationId xmlns:a16="http://schemas.microsoft.com/office/drawing/2014/main" id="{99EA9F61-41BC-89FE-3564-F802668834C2}"/>
                </a:ext>
              </a:extLst>
            </p:cNvPr>
            <p:cNvPicPr>
              <a:picLocks noChangeAspect="1"/>
            </p:cNvPicPr>
            <p:nvPr/>
          </p:nvPicPr>
          <p:blipFill>
            <a:blip r:embed="rId7"/>
            <a:stretch>
              <a:fillRect/>
            </a:stretch>
          </p:blipFill>
          <p:spPr>
            <a:xfrm>
              <a:off x="1939957" y="5173307"/>
              <a:ext cx="3716772" cy="636706"/>
            </a:xfrm>
            <a:prstGeom prst="rect">
              <a:avLst/>
            </a:prstGeom>
          </p:spPr>
        </p:pic>
        <p:sp>
          <p:nvSpPr>
            <p:cNvPr id="24" name="TextBox 23">
              <a:extLst>
                <a:ext uri="{FF2B5EF4-FFF2-40B4-BE49-F238E27FC236}">
                  <a16:creationId xmlns:a16="http://schemas.microsoft.com/office/drawing/2014/main" id="{C6A49CE0-2A65-8993-F4F1-2E8A886CCAC5}"/>
                </a:ext>
              </a:extLst>
            </p:cNvPr>
            <p:cNvSpPr txBox="1"/>
            <p:nvPr/>
          </p:nvSpPr>
          <p:spPr>
            <a:xfrm>
              <a:off x="1090824" y="3377136"/>
              <a:ext cx="2034988" cy="369332"/>
            </a:xfrm>
            <a:prstGeom prst="rect">
              <a:avLst/>
            </a:prstGeom>
            <a:noFill/>
          </p:spPr>
          <p:txBody>
            <a:bodyPr wrap="square">
              <a:spAutoFit/>
            </a:bodyPr>
            <a:lstStyle/>
            <a:p>
              <a:r>
                <a:rPr lang="en-SG">
                  <a:latin typeface="Times New Roman" panose="02020603050405020304" pitchFamily="18" charset="0"/>
                  <a:cs typeface="Times New Roman" panose="02020603050405020304" pitchFamily="18" charset="0"/>
                </a:rPr>
                <a:t>reconstruction term</a:t>
              </a:r>
            </a:p>
          </p:txBody>
        </p:sp>
        <p:sp>
          <p:nvSpPr>
            <p:cNvPr id="27" name="TextBox 26">
              <a:extLst>
                <a:ext uri="{FF2B5EF4-FFF2-40B4-BE49-F238E27FC236}">
                  <a16:creationId xmlns:a16="http://schemas.microsoft.com/office/drawing/2014/main" id="{9632E496-D147-5ABA-D58C-AEED531323C3}"/>
                </a:ext>
              </a:extLst>
            </p:cNvPr>
            <p:cNvSpPr txBox="1"/>
            <p:nvPr/>
          </p:nvSpPr>
          <p:spPr>
            <a:xfrm>
              <a:off x="1064246" y="3882693"/>
              <a:ext cx="3671047" cy="369332"/>
            </a:xfrm>
            <a:prstGeom prst="rect">
              <a:avLst/>
            </a:prstGeom>
            <a:noFill/>
          </p:spPr>
          <p:txBody>
            <a:bodyPr wrap="square">
              <a:spAutoFit/>
            </a:bodyPr>
            <a:lstStyle/>
            <a:p>
              <a:r>
                <a:rPr lang="en-SG">
                  <a:latin typeface="Times New Roman" panose="02020603050405020304" pitchFamily="18" charset="0"/>
                  <a:cs typeface="Times New Roman" panose="02020603050405020304" pitchFamily="18" charset="0"/>
                </a:rPr>
                <a:t>expected logarithmic likelihood term</a:t>
              </a:r>
            </a:p>
          </p:txBody>
        </p:sp>
        <p:sp>
          <p:nvSpPr>
            <p:cNvPr id="28" name="TextBox 27">
              <a:extLst>
                <a:ext uri="{FF2B5EF4-FFF2-40B4-BE49-F238E27FC236}">
                  <a16:creationId xmlns:a16="http://schemas.microsoft.com/office/drawing/2014/main" id="{D1C7E248-B390-4874-6EE1-52BF790E92A9}"/>
                </a:ext>
              </a:extLst>
            </p:cNvPr>
            <p:cNvSpPr txBox="1"/>
            <p:nvPr/>
          </p:nvSpPr>
          <p:spPr>
            <a:xfrm>
              <a:off x="1064246" y="4793263"/>
              <a:ext cx="2882153" cy="369332"/>
            </a:xfrm>
            <a:prstGeom prst="rect">
              <a:avLst/>
            </a:prstGeom>
            <a:noFill/>
          </p:spPr>
          <p:txBody>
            <a:bodyPr wrap="square">
              <a:spAutoFit/>
            </a:bodyPr>
            <a:lstStyle/>
            <a:p>
              <a:r>
                <a:rPr lang="en-SG">
                  <a:latin typeface="Times New Roman" panose="02020603050405020304" pitchFamily="18" charset="0"/>
                  <a:cs typeface="Times New Roman" panose="02020603050405020304" pitchFamily="18" charset="0"/>
                </a:rPr>
                <a:t>temporal constrastive term</a:t>
              </a:r>
            </a:p>
          </p:txBody>
        </p:sp>
      </p:grpSp>
    </p:spTree>
    <p:extLst>
      <p:ext uri="{BB962C8B-B14F-4D97-AF65-F5344CB8AC3E}">
        <p14:creationId xmlns:p14="http://schemas.microsoft.com/office/powerpoint/2010/main" val="3474284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C98C1-C234-2566-2F20-CB192066E47A}"/>
              </a:ext>
            </a:extLst>
          </p:cNvPr>
          <p:cNvSpPr>
            <a:spLocks noGrp="1"/>
          </p:cNvSpPr>
          <p:nvPr>
            <p:ph type="title"/>
          </p:nvPr>
        </p:nvSpPr>
        <p:spPr/>
        <p:txBody>
          <a:bodyPr/>
          <a:lstStyle/>
          <a:p>
            <a:r>
              <a:rPr lang="en-US" altLang="zh-CN"/>
              <a:t>Visual Control with SMuCo</a:t>
            </a:r>
            <a:endParaRPr lang="zh-CN" altLang="en-US"/>
          </a:p>
        </p:txBody>
      </p:sp>
      <p:sp>
        <p:nvSpPr>
          <p:cNvPr id="16" name="Content Placeholder 2">
            <a:extLst>
              <a:ext uri="{FF2B5EF4-FFF2-40B4-BE49-F238E27FC236}">
                <a16:creationId xmlns:a16="http://schemas.microsoft.com/office/drawing/2014/main" id="{4312747A-112C-4FC9-6899-3C17D44EF448}"/>
              </a:ext>
            </a:extLst>
          </p:cNvPr>
          <p:cNvSpPr txBox="1">
            <a:spLocks/>
          </p:cNvSpPr>
          <p:nvPr/>
        </p:nvSpPr>
        <p:spPr>
          <a:xfrm>
            <a:off x="1595675" y="2796988"/>
            <a:ext cx="3742767" cy="19453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sz="1600"/>
          </a:p>
          <a:p>
            <a:pPr marL="0" indent="0">
              <a:buNone/>
            </a:pPr>
            <a:endParaRPr lang="en-US" altLang="zh-CN" sz="1600"/>
          </a:p>
        </p:txBody>
      </p:sp>
      <p:pic>
        <p:nvPicPr>
          <p:cNvPr id="8" name="Picture 7">
            <a:extLst>
              <a:ext uri="{FF2B5EF4-FFF2-40B4-BE49-F238E27FC236}">
                <a16:creationId xmlns:a16="http://schemas.microsoft.com/office/drawing/2014/main" id="{395E9D58-C8A8-024A-5F6B-DE1BE709B40A}"/>
              </a:ext>
            </a:extLst>
          </p:cNvPr>
          <p:cNvPicPr>
            <a:picLocks noChangeAspect="1"/>
          </p:cNvPicPr>
          <p:nvPr/>
        </p:nvPicPr>
        <p:blipFill>
          <a:blip r:embed="rId3"/>
          <a:stretch>
            <a:fillRect/>
          </a:stretch>
        </p:blipFill>
        <p:spPr>
          <a:xfrm>
            <a:off x="838200" y="1375794"/>
            <a:ext cx="4505954" cy="3705742"/>
          </a:xfrm>
          <a:prstGeom prst="rect">
            <a:avLst/>
          </a:prstGeom>
        </p:spPr>
      </p:pic>
      <p:pic>
        <p:nvPicPr>
          <p:cNvPr id="12" name="Picture 11">
            <a:extLst>
              <a:ext uri="{FF2B5EF4-FFF2-40B4-BE49-F238E27FC236}">
                <a16:creationId xmlns:a16="http://schemas.microsoft.com/office/drawing/2014/main" id="{1F2D4775-B029-0039-2EFA-108EF7B5C709}"/>
              </a:ext>
            </a:extLst>
          </p:cNvPr>
          <p:cNvPicPr>
            <a:picLocks noChangeAspect="1"/>
          </p:cNvPicPr>
          <p:nvPr/>
        </p:nvPicPr>
        <p:blipFill>
          <a:blip r:embed="rId4"/>
          <a:stretch>
            <a:fillRect/>
          </a:stretch>
        </p:blipFill>
        <p:spPr>
          <a:xfrm>
            <a:off x="6454588" y="1824701"/>
            <a:ext cx="4486901" cy="4086795"/>
          </a:xfrm>
          <a:prstGeom prst="rect">
            <a:avLst/>
          </a:prstGeom>
        </p:spPr>
      </p:pic>
      <p:cxnSp>
        <p:nvCxnSpPr>
          <p:cNvPr id="15" name="Connector: Curved 14">
            <a:extLst>
              <a:ext uri="{FF2B5EF4-FFF2-40B4-BE49-F238E27FC236}">
                <a16:creationId xmlns:a16="http://schemas.microsoft.com/office/drawing/2014/main" id="{F020798C-7FD1-2144-BEDF-0F2C76371FBE}"/>
              </a:ext>
            </a:extLst>
          </p:cNvPr>
          <p:cNvCxnSpPr>
            <a:stCxn id="8" idx="2"/>
            <a:endCxn id="12" idx="0"/>
          </p:cNvCxnSpPr>
          <p:nvPr/>
        </p:nvCxnSpPr>
        <p:spPr>
          <a:xfrm rot="5400000" flipH="1" flipV="1">
            <a:off x="4266190" y="649688"/>
            <a:ext cx="3256835" cy="5606862"/>
          </a:xfrm>
          <a:prstGeom prst="curvedConnector5">
            <a:avLst>
              <a:gd name="adj1" fmla="val -7019"/>
              <a:gd name="adj2" fmla="val 50085"/>
              <a:gd name="adj3" fmla="val 113350"/>
            </a:avLst>
          </a:prstGeom>
          <a:ln w="12700">
            <a:solidFill>
              <a:schemeClr val="tx1"/>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5988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BFA63-CD07-AF96-CA5B-29C23FB76710}"/>
              </a:ext>
            </a:extLst>
          </p:cNvPr>
          <p:cNvSpPr>
            <a:spLocks noGrp="1"/>
          </p:cNvSpPr>
          <p:nvPr>
            <p:ph type="title"/>
          </p:nvPr>
        </p:nvSpPr>
        <p:spPr>
          <a:xfrm>
            <a:off x="838200" y="320300"/>
            <a:ext cx="10515600" cy="1010669"/>
          </a:xfrm>
        </p:spPr>
        <p:txBody>
          <a:bodyPr/>
          <a:lstStyle/>
          <a:p>
            <a:r>
              <a:rPr lang="en-US" altLang="zh-CN"/>
              <a:t>Frameworks</a:t>
            </a:r>
            <a:endParaRPr lang="zh-CN" altLang="en-US"/>
          </a:p>
        </p:txBody>
      </p:sp>
      <p:pic>
        <p:nvPicPr>
          <p:cNvPr id="5" name="Picture 4">
            <a:extLst>
              <a:ext uri="{FF2B5EF4-FFF2-40B4-BE49-F238E27FC236}">
                <a16:creationId xmlns:a16="http://schemas.microsoft.com/office/drawing/2014/main" id="{04CCA1B7-7202-2465-099A-360DC3E1ABB8}"/>
              </a:ext>
            </a:extLst>
          </p:cNvPr>
          <p:cNvPicPr>
            <a:picLocks noChangeAspect="1"/>
          </p:cNvPicPr>
          <p:nvPr/>
        </p:nvPicPr>
        <p:blipFill>
          <a:blip r:embed="rId3"/>
          <a:stretch>
            <a:fillRect/>
          </a:stretch>
        </p:blipFill>
        <p:spPr>
          <a:xfrm>
            <a:off x="918049" y="1241558"/>
            <a:ext cx="8807824" cy="2309490"/>
          </a:xfrm>
          <a:prstGeom prst="rect">
            <a:avLst/>
          </a:prstGeom>
        </p:spPr>
      </p:pic>
      <p:pic>
        <p:nvPicPr>
          <p:cNvPr id="3" name="Picture 2">
            <a:extLst>
              <a:ext uri="{FF2B5EF4-FFF2-40B4-BE49-F238E27FC236}">
                <a16:creationId xmlns:a16="http://schemas.microsoft.com/office/drawing/2014/main" id="{842B3F0F-D662-7D9A-1D41-8CCF8619F9F3}"/>
              </a:ext>
            </a:extLst>
          </p:cNvPr>
          <p:cNvPicPr>
            <a:picLocks noChangeAspect="1"/>
          </p:cNvPicPr>
          <p:nvPr/>
        </p:nvPicPr>
        <p:blipFill>
          <a:blip r:embed="rId4"/>
          <a:stretch>
            <a:fillRect/>
          </a:stretch>
        </p:blipFill>
        <p:spPr>
          <a:xfrm>
            <a:off x="918049" y="3879177"/>
            <a:ext cx="6055103" cy="2625726"/>
          </a:xfrm>
          <a:prstGeom prst="rect">
            <a:avLst/>
          </a:prstGeom>
        </p:spPr>
      </p:pic>
      <p:cxnSp>
        <p:nvCxnSpPr>
          <p:cNvPr id="6" name="Straight Connector 5">
            <a:extLst>
              <a:ext uri="{FF2B5EF4-FFF2-40B4-BE49-F238E27FC236}">
                <a16:creationId xmlns:a16="http://schemas.microsoft.com/office/drawing/2014/main" id="{D2E99007-2A09-048A-3B81-341B66C619B4}"/>
              </a:ext>
            </a:extLst>
          </p:cNvPr>
          <p:cNvCxnSpPr/>
          <p:nvPr/>
        </p:nvCxnSpPr>
        <p:spPr>
          <a:xfrm>
            <a:off x="0" y="3715112"/>
            <a:ext cx="12192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1D2E8FB-C84A-399C-EA43-63787EEF2C3F}"/>
              </a:ext>
            </a:extLst>
          </p:cNvPr>
          <p:cNvSpPr txBox="1"/>
          <p:nvPr/>
        </p:nvSpPr>
        <p:spPr>
          <a:xfrm>
            <a:off x="7323609" y="4102974"/>
            <a:ext cx="4447049" cy="1200329"/>
          </a:xfrm>
          <a:prstGeom prst="rect">
            <a:avLst/>
          </a:prstGeom>
          <a:noFill/>
        </p:spPr>
        <p:txBody>
          <a:bodyPr wrap="square">
            <a:spAutoFit/>
          </a:bodyPr>
          <a:lstStyle/>
          <a:p>
            <a:r>
              <a:rPr lang="en-US" altLang="zh-CN">
                <a:latin typeface="Times New Roman" panose="02020603050405020304" pitchFamily="18" charset="0"/>
                <a:cs typeface="Times New Roman" panose="02020603050405020304" pitchFamily="18" charset="0"/>
              </a:rPr>
              <a:t>Encoder Architecture</a:t>
            </a:r>
          </a:p>
          <a:p>
            <a:endParaRPr lang="en-US" altLang="zh-CN">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SG" altLang="zh-CN">
                <a:latin typeface="Times New Roman" panose="02020603050405020304" pitchFamily="18" charset="0"/>
                <a:cs typeface="Times New Roman" panose="02020603050405020304" pitchFamily="18" charset="0"/>
              </a:rPr>
              <a:t>Product of Expert (PoE)</a:t>
            </a:r>
          </a:p>
          <a:p>
            <a:pPr marL="285750" indent="-285750">
              <a:buFont typeface="Arial" panose="020B0604020202020204" pitchFamily="34" charset="0"/>
              <a:buChar char="•"/>
            </a:pPr>
            <a:r>
              <a:rPr lang="en-SG" altLang="zh-CN">
                <a:latin typeface="Times New Roman" panose="02020603050405020304" pitchFamily="18" charset="0"/>
                <a:cs typeface="Times New Roman" panose="02020603050405020304" pitchFamily="18" charset="0"/>
              </a:rPr>
              <a:t>Inverse Variance Weighted method (IVW)</a:t>
            </a:r>
          </a:p>
        </p:txBody>
      </p:sp>
    </p:spTree>
    <p:extLst>
      <p:ext uri="{BB962C8B-B14F-4D97-AF65-F5344CB8AC3E}">
        <p14:creationId xmlns:p14="http://schemas.microsoft.com/office/powerpoint/2010/main" val="345315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A3BC6-5364-2548-7B14-ADFEECD60A69}"/>
              </a:ext>
            </a:extLst>
          </p:cNvPr>
          <p:cNvSpPr>
            <a:spLocks noGrp="1"/>
          </p:cNvSpPr>
          <p:nvPr>
            <p:ph type="title"/>
          </p:nvPr>
        </p:nvSpPr>
        <p:spPr/>
        <p:txBody>
          <a:bodyPr/>
          <a:lstStyle/>
          <a:p>
            <a:r>
              <a:rPr lang="en-US" altLang="zh-CN"/>
              <a:t>Baselines</a:t>
            </a:r>
            <a:endParaRPr lang="zh-CN" altLang="en-US"/>
          </a:p>
        </p:txBody>
      </p:sp>
      <p:sp>
        <p:nvSpPr>
          <p:cNvPr id="5" name="Content Placeholder 4">
            <a:extLst>
              <a:ext uri="{FF2B5EF4-FFF2-40B4-BE49-F238E27FC236}">
                <a16:creationId xmlns:a16="http://schemas.microsoft.com/office/drawing/2014/main" id="{4A2282AD-1EC0-36BC-6958-CD2208B5D188}"/>
              </a:ext>
            </a:extLst>
          </p:cNvPr>
          <p:cNvSpPr>
            <a:spLocks noGrp="1"/>
          </p:cNvSpPr>
          <p:nvPr>
            <p:ph idx="1"/>
          </p:nvPr>
        </p:nvSpPr>
        <p:spPr>
          <a:xfrm>
            <a:off x="838200" y="1551963"/>
            <a:ext cx="5520267" cy="4625000"/>
          </a:xfrm>
        </p:spPr>
        <p:txBody>
          <a:bodyPr/>
          <a:lstStyle/>
          <a:p>
            <a:endParaRPr lang="en-US" altLang="zh-CN"/>
          </a:p>
          <a:p>
            <a:r>
              <a:rPr lang="en-US" altLang="zh-CN"/>
              <a:t>DreamerV2: world model</a:t>
            </a:r>
          </a:p>
          <a:p>
            <a:r>
              <a:rPr lang="en-US" altLang="zh-CN"/>
              <a:t>RAD: augmentatoin</a:t>
            </a:r>
          </a:p>
          <a:p>
            <a:r>
              <a:rPr lang="en-US" altLang="zh-CN"/>
              <a:t>DrQ: data regularized</a:t>
            </a:r>
          </a:p>
          <a:p>
            <a:r>
              <a:rPr lang="en-US" altLang="zh-CN"/>
              <a:t>PI-SAC: predictive information</a:t>
            </a:r>
          </a:p>
          <a:p>
            <a:r>
              <a:rPr lang="en-US" altLang="zh-CN"/>
              <a:t>SLAC: stochastic latent variable</a:t>
            </a:r>
          </a:p>
          <a:p>
            <a:r>
              <a:rPr lang="en-US" altLang="zh-CN"/>
              <a:t>DRIBO: information bottleneck</a:t>
            </a:r>
            <a:endParaRPr lang="zh-CN" altLang="en-US"/>
          </a:p>
        </p:txBody>
      </p:sp>
      <p:pic>
        <p:nvPicPr>
          <p:cNvPr id="4" name="Picture 3">
            <a:extLst>
              <a:ext uri="{FF2B5EF4-FFF2-40B4-BE49-F238E27FC236}">
                <a16:creationId xmlns:a16="http://schemas.microsoft.com/office/drawing/2014/main" id="{59CEF881-D496-32FC-5226-ED856614AB4B}"/>
              </a:ext>
            </a:extLst>
          </p:cNvPr>
          <p:cNvPicPr>
            <a:picLocks noChangeAspect="1"/>
          </p:cNvPicPr>
          <p:nvPr/>
        </p:nvPicPr>
        <p:blipFill>
          <a:blip r:embed="rId3"/>
          <a:stretch>
            <a:fillRect/>
          </a:stretch>
        </p:blipFill>
        <p:spPr>
          <a:xfrm>
            <a:off x="5514160" y="2381689"/>
            <a:ext cx="5839640" cy="2172003"/>
          </a:xfrm>
          <a:prstGeom prst="rect">
            <a:avLst/>
          </a:prstGeom>
        </p:spPr>
      </p:pic>
    </p:spTree>
    <p:extLst>
      <p:ext uri="{BB962C8B-B14F-4D97-AF65-F5344CB8AC3E}">
        <p14:creationId xmlns:p14="http://schemas.microsoft.com/office/powerpoint/2010/main" val="3845762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C7F75-8F62-4560-C1C7-A4DD5B816106}"/>
              </a:ext>
            </a:extLst>
          </p:cNvPr>
          <p:cNvSpPr>
            <a:spLocks noGrp="1"/>
          </p:cNvSpPr>
          <p:nvPr>
            <p:ph type="title"/>
          </p:nvPr>
        </p:nvSpPr>
        <p:spPr/>
        <p:txBody>
          <a:bodyPr/>
          <a:lstStyle/>
          <a:p>
            <a:r>
              <a:rPr lang="en-US" altLang="zh-CN"/>
              <a:t>Performance Evaluation</a:t>
            </a:r>
            <a:endParaRPr lang="zh-CN" altLang="en-US"/>
          </a:p>
        </p:txBody>
      </p:sp>
      <p:pic>
        <p:nvPicPr>
          <p:cNvPr id="4" name="Picture 3">
            <a:extLst>
              <a:ext uri="{FF2B5EF4-FFF2-40B4-BE49-F238E27FC236}">
                <a16:creationId xmlns:a16="http://schemas.microsoft.com/office/drawing/2014/main" id="{DDFE12AE-E164-5B99-71E5-BEEEBA8F5C44}"/>
              </a:ext>
            </a:extLst>
          </p:cNvPr>
          <p:cNvPicPr>
            <a:picLocks noChangeAspect="1"/>
          </p:cNvPicPr>
          <p:nvPr/>
        </p:nvPicPr>
        <p:blipFill>
          <a:blip r:embed="rId3"/>
          <a:stretch>
            <a:fillRect/>
          </a:stretch>
        </p:blipFill>
        <p:spPr>
          <a:xfrm>
            <a:off x="143434" y="0"/>
            <a:ext cx="8758518" cy="6786706"/>
          </a:xfrm>
          <a:prstGeom prst="rect">
            <a:avLst/>
          </a:prstGeom>
        </p:spPr>
      </p:pic>
      <p:pic>
        <p:nvPicPr>
          <p:cNvPr id="7" name="Picture 6">
            <a:extLst>
              <a:ext uri="{FF2B5EF4-FFF2-40B4-BE49-F238E27FC236}">
                <a16:creationId xmlns:a16="http://schemas.microsoft.com/office/drawing/2014/main" id="{9FC77B8C-CEA5-3DC8-C03D-5C985B6AF7F2}"/>
              </a:ext>
            </a:extLst>
          </p:cNvPr>
          <p:cNvPicPr>
            <a:picLocks noChangeAspect="1"/>
          </p:cNvPicPr>
          <p:nvPr/>
        </p:nvPicPr>
        <p:blipFill rotWithShape="1">
          <a:blip r:embed="rId4"/>
          <a:srcRect l="5573" t="2426" r="6987" b="3470"/>
          <a:stretch/>
        </p:blipFill>
        <p:spPr>
          <a:xfrm>
            <a:off x="9412941" y="972883"/>
            <a:ext cx="1940859" cy="2420470"/>
          </a:xfrm>
          <a:prstGeom prst="rect">
            <a:avLst/>
          </a:prstGeom>
        </p:spPr>
      </p:pic>
    </p:spTree>
    <p:extLst>
      <p:ext uri="{BB962C8B-B14F-4D97-AF65-F5344CB8AC3E}">
        <p14:creationId xmlns:p14="http://schemas.microsoft.com/office/powerpoint/2010/main" val="796993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EE449-A886-21E4-AB3C-16997A0231A8}"/>
              </a:ext>
            </a:extLst>
          </p:cNvPr>
          <p:cNvSpPr>
            <a:spLocks noGrp="1"/>
          </p:cNvSpPr>
          <p:nvPr>
            <p:ph type="title"/>
          </p:nvPr>
        </p:nvSpPr>
        <p:spPr/>
        <p:txBody>
          <a:bodyPr/>
          <a:lstStyle/>
          <a:p>
            <a:r>
              <a:rPr lang="en-US" altLang="zh-CN"/>
              <a:t>Ablation Study</a:t>
            </a:r>
            <a:endParaRPr lang="zh-CN" altLang="en-US"/>
          </a:p>
        </p:txBody>
      </p:sp>
      <p:pic>
        <p:nvPicPr>
          <p:cNvPr id="4" name="Picture 3">
            <a:extLst>
              <a:ext uri="{FF2B5EF4-FFF2-40B4-BE49-F238E27FC236}">
                <a16:creationId xmlns:a16="http://schemas.microsoft.com/office/drawing/2014/main" id="{77E5D9A4-FCAB-3198-37B0-B7091E00A596}"/>
              </a:ext>
            </a:extLst>
          </p:cNvPr>
          <p:cNvPicPr>
            <a:picLocks noChangeAspect="1"/>
          </p:cNvPicPr>
          <p:nvPr/>
        </p:nvPicPr>
        <p:blipFill>
          <a:blip r:embed="rId3"/>
          <a:stretch>
            <a:fillRect/>
          </a:stretch>
        </p:blipFill>
        <p:spPr>
          <a:xfrm>
            <a:off x="694764" y="1680594"/>
            <a:ext cx="10539181" cy="2983984"/>
          </a:xfrm>
          <a:prstGeom prst="rect">
            <a:avLst/>
          </a:prstGeom>
        </p:spPr>
      </p:pic>
    </p:spTree>
    <p:extLst>
      <p:ext uri="{BB962C8B-B14F-4D97-AF65-F5344CB8AC3E}">
        <p14:creationId xmlns:p14="http://schemas.microsoft.com/office/powerpoint/2010/main" val="3903387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BF81-63DC-EC4F-D457-2BED96DF325E}"/>
              </a:ext>
            </a:extLst>
          </p:cNvPr>
          <p:cNvSpPr>
            <a:spLocks noGrp="1"/>
          </p:cNvSpPr>
          <p:nvPr>
            <p:ph type="title"/>
          </p:nvPr>
        </p:nvSpPr>
        <p:spPr/>
        <p:txBody>
          <a:bodyPr/>
          <a:lstStyle/>
          <a:p>
            <a:r>
              <a:rPr lang="en-US" altLang="zh-CN"/>
              <a:t>Spatial Attention Maps</a:t>
            </a:r>
            <a:endParaRPr lang="zh-CN" altLang="en-US"/>
          </a:p>
        </p:txBody>
      </p:sp>
      <p:sp>
        <p:nvSpPr>
          <p:cNvPr id="4" name="Content Placeholder 3">
            <a:extLst>
              <a:ext uri="{FF2B5EF4-FFF2-40B4-BE49-F238E27FC236}">
                <a16:creationId xmlns:a16="http://schemas.microsoft.com/office/drawing/2014/main" id="{2D8E20CF-7C7F-AE41-F668-F15A35CC0F82}"/>
              </a:ext>
            </a:extLst>
          </p:cNvPr>
          <p:cNvSpPr>
            <a:spLocks noGrp="1"/>
          </p:cNvSpPr>
          <p:nvPr>
            <p:ph idx="1"/>
          </p:nvPr>
        </p:nvSpPr>
        <p:spPr>
          <a:xfrm>
            <a:off x="838200" y="1551963"/>
            <a:ext cx="5009707" cy="4625000"/>
          </a:xfrm>
        </p:spPr>
        <p:txBody>
          <a:bodyPr/>
          <a:lstStyle/>
          <a:p>
            <a:pPr marL="285750" indent="-285750"/>
            <a:endParaRPr lang="en-US" altLang="zh-CN"/>
          </a:p>
          <a:p>
            <a:pPr marL="285750" indent="-285750"/>
            <a:r>
              <a:rPr lang="en-US" altLang="zh-CN"/>
              <a:t>cheetah, run</a:t>
            </a:r>
          </a:p>
          <a:p>
            <a:pPr marL="285750" indent="-285750"/>
            <a:r>
              <a:rPr lang="en-US" altLang="zh-CN"/>
              <a:t>walker walk</a:t>
            </a:r>
          </a:p>
          <a:p>
            <a:pPr marL="285750" indent="-285750"/>
            <a:r>
              <a:rPr lang="en-US" altLang="zh-CN"/>
              <a:t>ball in cup, catch</a:t>
            </a:r>
          </a:p>
          <a:p>
            <a:pPr marL="285750" indent="-285750"/>
            <a:r>
              <a:rPr lang="en-US" altLang="zh-CN"/>
              <a:t>finger, spin</a:t>
            </a:r>
          </a:p>
          <a:p>
            <a:pPr marL="285750" indent="-285750">
              <a:buFont typeface="Arial" panose="020B0604020202020204" pitchFamily="34" charset="0"/>
              <a:buChar char="•"/>
            </a:pPr>
            <a:endParaRPr lang="en-US" altLang="zh-CN"/>
          </a:p>
          <a:p>
            <a:endParaRPr lang="zh-CN" altLang="en-US"/>
          </a:p>
        </p:txBody>
      </p:sp>
      <p:pic>
        <p:nvPicPr>
          <p:cNvPr id="5" name="Picture 4">
            <a:extLst>
              <a:ext uri="{FF2B5EF4-FFF2-40B4-BE49-F238E27FC236}">
                <a16:creationId xmlns:a16="http://schemas.microsoft.com/office/drawing/2014/main" id="{7A7C8BE6-D5F6-FAFA-799B-D2F131B0F9A0}"/>
              </a:ext>
            </a:extLst>
          </p:cNvPr>
          <p:cNvPicPr>
            <a:picLocks noChangeAspect="1"/>
          </p:cNvPicPr>
          <p:nvPr/>
        </p:nvPicPr>
        <p:blipFill>
          <a:blip r:embed="rId3"/>
          <a:stretch>
            <a:fillRect/>
          </a:stretch>
        </p:blipFill>
        <p:spPr>
          <a:xfrm>
            <a:off x="5211349" y="1492542"/>
            <a:ext cx="5887272" cy="3381847"/>
          </a:xfrm>
          <a:prstGeom prst="rect">
            <a:avLst/>
          </a:prstGeom>
        </p:spPr>
      </p:pic>
      <p:sp>
        <p:nvSpPr>
          <p:cNvPr id="6" name="TextBox 5">
            <a:extLst>
              <a:ext uri="{FF2B5EF4-FFF2-40B4-BE49-F238E27FC236}">
                <a16:creationId xmlns:a16="http://schemas.microsoft.com/office/drawing/2014/main" id="{3CFF2C64-90AF-56D0-D375-B2442928B3BA}"/>
              </a:ext>
            </a:extLst>
          </p:cNvPr>
          <p:cNvSpPr txBox="1"/>
          <p:nvPr/>
        </p:nvSpPr>
        <p:spPr>
          <a:xfrm>
            <a:off x="5211350" y="4991137"/>
            <a:ext cx="5887272" cy="738664"/>
          </a:xfrm>
          <a:prstGeom prst="rect">
            <a:avLst/>
          </a:prstGeom>
          <a:noFill/>
        </p:spPr>
        <p:txBody>
          <a:bodyPr wrap="square" rtlCol="0">
            <a:spAutoFit/>
          </a:bodyPr>
          <a:lstStyle/>
          <a:p>
            <a:r>
              <a:rPr lang="en-US" altLang="zh-CN" sz="1400">
                <a:latin typeface="Times New Roman" panose="02020603050405020304" pitchFamily="18" charset="0"/>
                <a:cs typeface="Times New Roman" panose="02020603050405020304" pitchFamily="18" charset="0"/>
              </a:rPr>
              <a:t>Figure 2. Spatial attention maps of representations from observations in four DMC tasks</a:t>
            </a:r>
          </a:p>
          <a:p>
            <a:endParaRPr lang="zh-CN" altLang="en-US" sz="1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1995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47450-19B5-4B38-21EA-934FCEEABD58}"/>
              </a:ext>
            </a:extLst>
          </p:cNvPr>
          <p:cNvSpPr>
            <a:spLocks noGrp="1"/>
          </p:cNvSpPr>
          <p:nvPr>
            <p:ph type="title"/>
          </p:nvPr>
        </p:nvSpPr>
        <p:spPr/>
        <p:txBody>
          <a:bodyPr/>
          <a:lstStyle/>
          <a:p>
            <a:r>
              <a:rPr lang="en-US" altLang="zh-CN"/>
              <a:t>Conclusion &amp; Future Work</a:t>
            </a:r>
            <a:endParaRPr lang="zh-CN" altLang="en-US"/>
          </a:p>
        </p:txBody>
      </p:sp>
      <p:sp>
        <p:nvSpPr>
          <p:cNvPr id="4" name="Content Placeholder 2">
            <a:extLst>
              <a:ext uri="{FF2B5EF4-FFF2-40B4-BE49-F238E27FC236}">
                <a16:creationId xmlns:a16="http://schemas.microsoft.com/office/drawing/2014/main" id="{E1F163ED-0445-D40F-2137-C49FE097776D}"/>
              </a:ext>
            </a:extLst>
          </p:cNvPr>
          <p:cNvSpPr txBox="1">
            <a:spLocks/>
          </p:cNvSpPr>
          <p:nvPr/>
        </p:nvSpPr>
        <p:spPr>
          <a:xfrm>
            <a:off x="766482" y="1492335"/>
            <a:ext cx="10663517" cy="20339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a:p>
        </p:txBody>
      </p:sp>
      <p:sp>
        <p:nvSpPr>
          <p:cNvPr id="9" name="Content Placeholder 2">
            <a:extLst>
              <a:ext uri="{FF2B5EF4-FFF2-40B4-BE49-F238E27FC236}">
                <a16:creationId xmlns:a16="http://schemas.microsoft.com/office/drawing/2014/main" id="{ACA72773-F2EB-7532-7D37-8A4F5A677F2B}"/>
              </a:ext>
            </a:extLst>
          </p:cNvPr>
          <p:cNvSpPr>
            <a:spLocks noGrp="1"/>
          </p:cNvSpPr>
          <p:nvPr>
            <p:ph idx="1"/>
          </p:nvPr>
        </p:nvSpPr>
        <p:spPr>
          <a:xfrm>
            <a:off x="766482" y="4143043"/>
            <a:ext cx="10515600" cy="2033919"/>
          </a:xfrm>
        </p:spPr>
        <p:txBody>
          <a:bodyPr/>
          <a:lstStyle/>
          <a:p>
            <a:r>
              <a:rPr lang="en-US" altLang="zh-CN"/>
              <a:t>handle unaligned multi-view observations and multi-modal observations</a:t>
            </a:r>
          </a:p>
          <a:p>
            <a:r>
              <a:rPr lang="en-US" altLang="zh-CN"/>
              <a:t>resolve partially-missing multi-view observations</a:t>
            </a:r>
          </a:p>
        </p:txBody>
      </p:sp>
      <p:sp>
        <p:nvSpPr>
          <p:cNvPr id="10" name="Content Placeholder 2">
            <a:extLst>
              <a:ext uri="{FF2B5EF4-FFF2-40B4-BE49-F238E27FC236}">
                <a16:creationId xmlns:a16="http://schemas.microsoft.com/office/drawing/2014/main" id="{2AF6BF1E-0F03-29EC-C01E-0629B8367B8F}"/>
              </a:ext>
            </a:extLst>
          </p:cNvPr>
          <p:cNvSpPr txBox="1">
            <a:spLocks/>
          </p:cNvSpPr>
          <p:nvPr/>
        </p:nvSpPr>
        <p:spPr>
          <a:xfrm>
            <a:off x="690282" y="1405675"/>
            <a:ext cx="10515600" cy="24289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complete and concise representation of multi-view observations</a:t>
            </a:r>
          </a:p>
          <a:p>
            <a:r>
              <a:rPr lang="en-US" altLang="zh-CN"/>
              <a:t>sequential multi-view total correlation</a:t>
            </a:r>
          </a:p>
          <a:p>
            <a:r>
              <a:rPr lang="en-US" altLang="zh-CN"/>
              <a:t>find surrogate loss </a:t>
            </a:r>
          </a:p>
          <a:p>
            <a:endParaRPr lang="en-US"/>
          </a:p>
        </p:txBody>
      </p:sp>
    </p:spTree>
    <p:extLst>
      <p:ext uri="{BB962C8B-B14F-4D97-AF65-F5344CB8AC3E}">
        <p14:creationId xmlns:p14="http://schemas.microsoft.com/office/powerpoint/2010/main" val="102547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500"/>
                                        <p:tgtEl>
                                          <p:spTgt spid="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1" end="1"/>
                                            </p:txEl>
                                          </p:spTgt>
                                        </p:tgtEl>
                                        <p:attrNameLst>
                                          <p:attrName>style.visibility</p:attrName>
                                        </p:attrNameLst>
                                      </p:cBhvr>
                                      <p:to>
                                        <p:strVal val="visible"/>
                                      </p:to>
                                    </p:set>
                                    <p:animEffect transition="in" filter="fade">
                                      <p:cBhvr>
                                        <p:cTn id="27"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0"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1CE38-A1FB-68CE-DCE3-C8F45968AFA7}"/>
              </a:ext>
            </a:extLst>
          </p:cNvPr>
          <p:cNvSpPr>
            <a:spLocks noGrp="1"/>
          </p:cNvSpPr>
          <p:nvPr>
            <p:ph type="title"/>
          </p:nvPr>
        </p:nvSpPr>
        <p:spPr>
          <a:xfrm>
            <a:off x="838200" y="2676525"/>
            <a:ext cx="10515600" cy="1325563"/>
          </a:xfrm>
        </p:spPr>
        <p:txBody>
          <a:bodyPr/>
          <a:lstStyle/>
          <a:p>
            <a:pPr algn="ctr"/>
            <a:r>
              <a:rPr lang="en-US" altLang="zh-CN"/>
              <a:t>Thanks for your attention!</a:t>
            </a:r>
            <a:endParaRPr lang="zh-CN" altLang="en-US"/>
          </a:p>
        </p:txBody>
      </p:sp>
    </p:spTree>
    <p:extLst>
      <p:ext uri="{BB962C8B-B14F-4D97-AF65-F5344CB8AC3E}">
        <p14:creationId xmlns:p14="http://schemas.microsoft.com/office/powerpoint/2010/main" val="2700610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1472</TotalTime>
  <Words>1402</Words>
  <Application>Microsoft Office PowerPoint</Application>
  <PresentationFormat>Widescreen</PresentationFormat>
  <Paragraphs>192</Paragraphs>
  <Slides>17</Slides>
  <Notes>13</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等线</vt:lpstr>
      <vt:lpstr>等线 Light</vt:lpstr>
      <vt:lpstr>Arial</vt:lpstr>
      <vt:lpstr>Georgia</vt:lpstr>
      <vt:lpstr>Times New Roman</vt:lpstr>
      <vt:lpstr>Office Theme</vt:lpstr>
      <vt:lpstr>SMuCo: Reinforcement Learning for Visual Control via Sequential Multi-view Total Correlation</vt:lpstr>
      <vt:lpstr>Preliminary</vt:lpstr>
      <vt:lpstr>Visual Control Problem</vt:lpstr>
      <vt:lpstr>Learning Invariant Representations</vt:lpstr>
      <vt:lpstr>Visual Control Problem</vt:lpstr>
      <vt:lpstr>Multi-view Total Correlation</vt:lpstr>
      <vt:lpstr>Predictive Informatics</vt:lpstr>
      <vt:lpstr>Sequential Multi-view Total Correlation</vt:lpstr>
      <vt:lpstr>Encoder Surrogate Loss</vt:lpstr>
      <vt:lpstr>Visual Control with SMuCo</vt:lpstr>
      <vt:lpstr>Frameworks</vt:lpstr>
      <vt:lpstr>Baselines</vt:lpstr>
      <vt:lpstr>Performance Evaluation</vt:lpstr>
      <vt:lpstr>Ablation Study</vt:lpstr>
      <vt:lpstr>Spatial Attention Maps</vt:lpstr>
      <vt:lpstr>Conclusion &amp; Future Work</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Cheng Tong</dc:creator>
  <cp:lastModifiedBy>Tong Cheng</cp:lastModifiedBy>
  <cp:revision>54</cp:revision>
  <dcterms:created xsi:type="dcterms:W3CDTF">2023-02-01T00:12:45Z</dcterms:created>
  <dcterms:modified xsi:type="dcterms:W3CDTF">2024-07-17T06:02:09Z</dcterms:modified>
</cp:coreProperties>
</file>